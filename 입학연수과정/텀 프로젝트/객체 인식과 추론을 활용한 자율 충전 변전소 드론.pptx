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0" r:id="rId2"/>
    <p:sldId id="256" r:id="rId3"/>
    <p:sldId id="270" r:id="rId4"/>
    <p:sldId id="269" r:id="rId5"/>
    <p:sldId id="271" r:id="rId6"/>
    <p:sldId id="258" r:id="rId7"/>
    <p:sldId id="268" r:id="rId8"/>
    <p:sldId id="257" r:id="rId9"/>
    <p:sldId id="266" r:id="rId10"/>
    <p:sldId id="267" r:id="rId11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5F5AC53-C483-49EC-8E31-F265F23AEC02}" type="doc">
      <dgm:prSet loTypeId="urn:microsoft.com/office/officeart/2024/layout/NumberedTitleList" loCatId="textcar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37C3A14B-4D86-46F9-BC9C-34C21BE04955}">
      <dgm:prSet phldrT="Title"/>
      <dgm:spPr/>
      <dgm:t>
        <a:bodyPr/>
        <a:lstStyle/>
        <a:p>
          <a:r>
            <a:rPr lang="ko-KR" altLang="en-US" dirty="0"/>
            <a:t>문제 정의</a:t>
          </a:r>
        </a:p>
      </dgm:t>
    </dgm:pt>
    <dgm:pt modelId="{D8B04452-B684-4CB0-8EE1-14C29921C4A0}" type="parTrans" cxnId="{C50F41AA-EBA5-4459-9946-15C56612E3DD}">
      <dgm:prSet/>
      <dgm:spPr/>
      <dgm:t>
        <a:bodyPr/>
        <a:lstStyle/>
        <a:p>
          <a:pPr latinLnBrk="1"/>
          <a:endParaRPr lang="ko-KR" altLang="en-US"/>
        </a:p>
      </dgm:t>
    </dgm:pt>
    <dgm:pt modelId="{A8C040B7-8690-4C30-8230-A4A980CC9669}" type="sibTrans" cxnId="{C50F41AA-EBA5-4459-9946-15C56612E3DD}">
      <dgm:prSet phldrT="1" phldr="0"/>
      <dgm:spPr/>
      <dgm:t>
        <a:bodyPr/>
        <a:lstStyle/>
        <a:p>
          <a:r>
            <a:t>1</a:t>
          </a:r>
        </a:p>
      </dgm:t>
    </dgm:pt>
    <dgm:pt modelId="{B962660A-502D-4FB5-BAE6-E96DFB25B959}">
      <dgm:prSet phldrT="Title"/>
      <dgm:spPr/>
      <dgm:t>
        <a:bodyPr/>
        <a:lstStyle/>
        <a:p>
          <a:r>
            <a:rPr lang="ko-KR" altLang="en-US" dirty="0"/>
            <a:t>서비스 개요</a:t>
          </a:r>
        </a:p>
      </dgm:t>
    </dgm:pt>
    <dgm:pt modelId="{C9C0B6DC-240E-4339-947B-AB90705FCAA8}" type="parTrans" cxnId="{1CEFF54E-59D1-424C-AD9A-9F8127CE47C0}">
      <dgm:prSet/>
      <dgm:spPr/>
      <dgm:t>
        <a:bodyPr/>
        <a:lstStyle/>
        <a:p>
          <a:pPr latinLnBrk="1"/>
          <a:endParaRPr lang="ko-KR" altLang="en-US"/>
        </a:p>
      </dgm:t>
    </dgm:pt>
    <dgm:pt modelId="{02017533-6498-40E5-94D4-5DE20C076E69}" type="sibTrans" cxnId="{1CEFF54E-59D1-424C-AD9A-9F8127CE47C0}">
      <dgm:prSet phldrT="3" phldr="0"/>
      <dgm:spPr/>
      <dgm:t>
        <a:bodyPr/>
        <a:lstStyle/>
        <a:p>
          <a:r>
            <a:rPr lang="ko-KR" altLang="en-US"/>
            <a:t>3</a:t>
          </a:r>
        </a:p>
      </dgm:t>
    </dgm:pt>
    <dgm:pt modelId="{2B712572-AF14-4211-9F59-EE77C7E72403}">
      <dgm:prSet phldrT="Title"/>
      <dgm:spPr/>
      <dgm:t>
        <a:bodyPr/>
        <a:lstStyle/>
        <a:p>
          <a:r>
            <a:rPr lang="en-US" altLang="ko-KR" dirty="0"/>
            <a:t>AI </a:t>
          </a:r>
          <a:r>
            <a:rPr lang="ko-KR" altLang="en-US" dirty="0"/>
            <a:t>기술 적용</a:t>
          </a:r>
        </a:p>
      </dgm:t>
    </dgm:pt>
    <dgm:pt modelId="{BF152717-C8FD-4455-98A7-45872656547B}" type="parTrans" cxnId="{704C9EE9-570B-4B94-9374-3378C72FBF1E}">
      <dgm:prSet/>
      <dgm:spPr/>
      <dgm:t>
        <a:bodyPr/>
        <a:lstStyle/>
        <a:p>
          <a:pPr latinLnBrk="1"/>
          <a:endParaRPr lang="ko-KR" altLang="en-US"/>
        </a:p>
      </dgm:t>
    </dgm:pt>
    <dgm:pt modelId="{51E3BFE1-3684-4A6F-B9C0-6D5A5E833059}" type="sibTrans" cxnId="{704C9EE9-570B-4B94-9374-3378C72FBF1E}">
      <dgm:prSet phldrT="4" phldr="0"/>
      <dgm:spPr/>
      <dgm:t>
        <a:bodyPr/>
        <a:lstStyle/>
        <a:p>
          <a:r>
            <a:rPr lang="ko-KR" altLang="en-US"/>
            <a:t>4</a:t>
          </a:r>
        </a:p>
      </dgm:t>
    </dgm:pt>
    <dgm:pt modelId="{6C4EC5D8-A717-4979-904D-471C2DBB0FAA}">
      <dgm:prSet phldrT="Title"/>
      <dgm:spPr/>
      <dgm:t>
        <a:bodyPr/>
        <a:lstStyle/>
        <a:p>
          <a:r>
            <a:rPr lang="ko-KR" altLang="en-US" dirty="0"/>
            <a:t>기대효과</a:t>
          </a:r>
        </a:p>
      </dgm:t>
    </dgm:pt>
    <dgm:pt modelId="{192E7247-7C28-4857-B009-56F9A54A0619}" type="parTrans" cxnId="{24B965B7-9264-4D15-B284-BB87532B98CA}">
      <dgm:prSet/>
      <dgm:spPr/>
      <dgm:t>
        <a:bodyPr/>
        <a:lstStyle/>
        <a:p>
          <a:pPr latinLnBrk="1"/>
          <a:endParaRPr lang="ko-KR" altLang="en-US"/>
        </a:p>
      </dgm:t>
    </dgm:pt>
    <dgm:pt modelId="{15BF5302-181B-4A8E-B805-B9091E4377E0}" type="sibTrans" cxnId="{24B965B7-9264-4D15-B284-BB87532B98CA}">
      <dgm:prSet phldrT="6" phldr="0"/>
      <dgm:spPr/>
      <dgm:t>
        <a:bodyPr/>
        <a:lstStyle/>
        <a:p>
          <a:r>
            <a:rPr lang="ko-KR" altLang="en-US"/>
            <a:t>6</a:t>
          </a:r>
        </a:p>
      </dgm:t>
    </dgm:pt>
    <dgm:pt modelId="{93B65A91-9C98-4E1E-88F1-C6320A7AD2A9}">
      <dgm:prSet phldrT="Title"/>
      <dgm:spPr/>
      <dgm:t>
        <a:bodyPr/>
        <a:lstStyle/>
        <a:p>
          <a:r>
            <a:rPr lang="ko-KR" altLang="en-US" dirty="0"/>
            <a:t>향후 발전 방향</a:t>
          </a:r>
        </a:p>
      </dgm:t>
    </dgm:pt>
    <dgm:pt modelId="{30D8CD6A-3C16-4E71-B445-BF932E7DBAC1}" type="parTrans" cxnId="{80E1E284-A2A8-4731-9C0E-1A31786E0D72}">
      <dgm:prSet/>
      <dgm:spPr/>
      <dgm:t>
        <a:bodyPr/>
        <a:lstStyle/>
        <a:p>
          <a:pPr latinLnBrk="1"/>
          <a:endParaRPr lang="ko-KR" altLang="en-US"/>
        </a:p>
      </dgm:t>
    </dgm:pt>
    <dgm:pt modelId="{DC70F002-A8CC-44D2-B898-A1CD0B92034C}" type="sibTrans" cxnId="{80E1E284-A2A8-4731-9C0E-1A31786E0D72}">
      <dgm:prSet phldrT="7" phldr="0"/>
      <dgm:spPr/>
      <dgm:t>
        <a:bodyPr/>
        <a:lstStyle/>
        <a:p>
          <a:r>
            <a:rPr lang="ko-KR" altLang="en-US"/>
            <a:t>7</a:t>
          </a:r>
        </a:p>
      </dgm:t>
    </dgm:pt>
    <dgm:pt modelId="{DF136EA4-DAFD-4541-888D-351018BF4EE2}">
      <dgm:prSet phldrT="Title"/>
      <dgm:spPr/>
      <dgm:t>
        <a:bodyPr/>
        <a:lstStyle/>
        <a:p>
          <a:r>
            <a:rPr lang="ko-KR" altLang="en-US" dirty="0"/>
            <a:t>타겟 사용자</a:t>
          </a:r>
        </a:p>
      </dgm:t>
    </dgm:pt>
    <dgm:pt modelId="{24CA4878-22D4-4864-A829-1DA3F216CE1A}" type="parTrans" cxnId="{C5F9E61D-3E51-40B3-8743-19379836819C}">
      <dgm:prSet/>
      <dgm:spPr/>
      <dgm:t>
        <a:bodyPr/>
        <a:lstStyle/>
        <a:p>
          <a:pPr latinLnBrk="1"/>
          <a:endParaRPr lang="ko-KR" altLang="en-US"/>
        </a:p>
      </dgm:t>
    </dgm:pt>
    <dgm:pt modelId="{46CFFE67-BDD5-4A90-B56F-B2A00671B514}" type="sibTrans" cxnId="{C5F9E61D-3E51-40B3-8743-19379836819C}">
      <dgm:prSet phldrT="2" phldr="0"/>
      <dgm:spPr/>
      <dgm:t>
        <a:bodyPr/>
        <a:lstStyle/>
        <a:p>
          <a:r>
            <a:rPr lang="ko-KR" altLang="en-US"/>
            <a:t>2</a:t>
          </a:r>
        </a:p>
      </dgm:t>
    </dgm:pt>
    <dgm:pt modelId="{8B076D21-C365-4E11-BD1C-86E80F8D34EA}">
      <dgm:prSet phldrT="Title"/>
      <dgm:spPr/>
      <dgm:t>
        <a:bodyPr/>
        <a:lstStyle/>
        <a:p>
          <a:r>
            <a:rPr lang="ko-KR" altLang="en-US" dirty="0"/>
            <a:t>시스템 구성</a:t>
          </a:r>
        </a:p>
      </dgm:t>
    </dgm:pt>
    <dgm:pt modelId="{39B6EB39-FCDC-4E56-96BA-9E1BAD1AC459}" type="parTrans" cxnId="{E2721D15-A30A-4BD2-9373-70CA0A59A22F}">
      <dgm:prSet/>
      <dgm:spPr/>
      <dgm:t>
        <a:bodyPr/>
        <a:lstStyle/>
        <a:p>
          <a:pPr latinLnBrk="1"/>
          <a:endParaRPr lang="ko-KR" altLang="en-US"/>
        </a:p>
      </dgm:t>
    </dgm:pt>
    <dgm:pt modelId="{E62EA051-6C15-4BE0-9DBC-E9319FDBD3C3}" type="sibTrans" cxnId="{E2721D15-A30A-4BD2-9373-70CA0A59A22F}">
      <dgm:prSet phldrT="5" phldr="0"/>
      <dgm:spPr/>
      <dgm:t>
        <a:bodyPr/>
        <a:lstStyle/>
        <a:p>
          <a:r>
            <a:rPr lang="ko-KR" altLang="en-US"/>
            <a:t>5</a:t>
          </a:r>
        </a:p>
      </dgm:t>
    </dgm:pt>
    <dgm:pt modelId="{973627D6-B03B-4777-A6DD-B378A6073D04}" type="pres">
      <dgm:prSet presAssocID="{25F5AC53-C483-49EC-8E31-F265F23AEC02}" presName="Name0" presStyleCnt="0">
        <dgm:presLayoutVars>
          <dgm:dir/>
          <dgm:animLvl val="lvl"/>
          <dgm:resizeHandles val="exact"/>
        </dgm:presLayoutVars>
      </dgm:prSet>
      <dgm:spPr/>
    </dgm:pt>
    <dgm:pt modelId="{AC210B58-54FB-4F4A-BD3C-FCBB73C18815}" type="pres">
      <dgm:prSet presAssocID="{37C3A14B-4D86-46F9-BC9C-34C21BE04955}" presName="compositeNode" presStyleCnt="0">
        <dgm:presLayoutVars>
          <dgm:bulletEnabled val="1"/>
        </dgm:presLayoutVars>
      </dgm:prSet>
      <dgm:spPr/>
    </dgm:pt>
    <dgm:pt modelId="{569EF652-16E8-4067-AD20-37F7B131ACC4}" type="pres">
      <dgm:prSet presAssocID="{37C3A14B-4D86-46F9-BC9C-34C21BE04955}" presName="bgRect" presStyleLbl="fgAcc1" presStyleIdx="0" presStyleCnt="7"/>
      <dgm:spPr/>
    </dgm:pt>
    <dgm:pt modelId="{F7FAC771-BB6C-41F6-AB32-49FF6E17BD9A}" type="pres">
      <dgm:prSet presAssocID="{A8C040B7-8690-4C30-8230-A4A980CC9669}" presName="sibTransNodeCircle" presStyleLbl="alignNode1" presStyleIdx="0" presStyleCnt="7">
        <dgm:presLayoutVars>
          <dgm:chMax val="0"/>
          <dgm:bulletEnabled/>
        </dgm:presLayoutVars>
      </dgm:prSet>
      <dgm:spPr/>
    </dgm:pt>
    <dgm:pt modelId="{22307A6F-53A1-4E61-9127-A5DBAF866F02}" type="pres">
      <dgm:prSet presAssocID="{37C3A14B-4D86-46F9-BC9C-34C21BE04955}" presName="nodeText" presStyleLbl="bgAccFollowNode1" presStyleIdx="0" presStyleCnt="0">
        <dgm:presLayoutVars>
          <dgm:bulletEnabled val="1"/>
        </dgm:presLayoutVars>
      </dgm:prSet>
      <dgm:spPr/>
    </dgm:pt>
    <dgm:pt modelId="{338F7161-DC0A-424A-BEC6-069E49ED8F9B}" type="pres">
      <dgm:prSet presAssocID="{A8C040B7-8690-4C30-8230-A4A980CC9669}" presName="sibTrans" presStyleCnt="0"/>
      <dgm:spPr/>
    </dgm:pt>
    <dgm:pt modelId="{58B01CCE-C53F-4BED-B4B6-3A7F857BCF3A}" type="pres">
      <dgm:prSet presAssocID="{DF136EA4-DAFD-4541-888D-351018BF4EE2}" presName="compositeNode" presStyleCnt="0">
        <dgm:presLayoutVars>
          <dgm:bulletEnabled val="1"/>
        </dgm:presLayoutVars>
      </dgm:prSet>
      <dgm:spPr/>
    </dgm:pt>
    <dgm:pt modelId="{82C28164-786C-4481-B7C1-8987D6243BF1}" type="pres">
      <dgm:prSet presAssocID="{DF136EA4-DAFD-4541-888D-351018BF4EE2}" presName="bgRect" presStyleLbl="fgAcc1" presStyleIdx="1" presStyleCnt="7"/>
      <dgm:spPr/>
    </dgm:pt>
    <dgm:pt modelId="{02F32608-898B-4562-900A-0CE1301EB423}" type="pres">
      <dgm:prSet presAssocID="{46CFFE67-BDD5-4A90-B56F-B2A00671B514}" presName="sibTransNodeCircle" presStyleLbl="alignNode1" presStyleIdx="1" presStyleCnt="7">
        <dgm:presLayoutVars>
          <dgm:chMax val="0"/>
          <dgm:bulletEnabled/>
        </dgm:presLayoutVars>
      </dgm:prSet>
      <dgm:spPr/>
    </dgm:pt>
    <dgm:pt modelId="{AE77E459-44FB-4268-B01B-10C9638C49C2}" type="pres">
      <dgm:prSet presAssocID="{DF136EA4-DAFD-4541-888D-351018BF4EE2}" presName="nodeText" presStyleLbl="bgAccFollowNode1" presStyleIdx="0" presStyleCnt="0">
        <dgm:presLayoutVars>
          <dgm:bulletEnabled val="1"/>
        </dgm:presLayoutVars>
      </dgm:prSet>
      <dgm:spPr/>
    </dgm:pt>
    <dgm:pt modelId="{ADF7F13B-D940-41DB-8AC4-0367B1EF713B}" type="pres">
      <dgm:prSet presAssocID="{46CFFE67-BDD5-4A90-B56F-B2A00671B514}" presName="sibTrans" presStyleCnt="0"/>
      <dgm:spPr/>
    </dgm:pt>
    <dgm:pt modelId="{DCA61B65-1C97-4362-8A10-537308EBACD5}" type="pres">
      <dgm:prSet presAssocID="{B962660A-502D-4FB5-BAE6-E96DFB25B959}" presName="compositeNode" presStyleCnt="0">
        <dgm:presLayoutVars>
          <dgm:bulletEnabled val="1"/>
        </dgm:presLayoutVars>
      </dgm:prSet>
      <dgm:spPr/>
    </dgm:pt>
    <dgm:pt modelId="{EE69188A-E7FE-461A-A929-204449523D09}" type="pres">
      <dgm:prSet presAssocID="{B962660A-502D-4FB5-BAE6-E96DFB25B959}" presName="bgRect" presStyleLbl="fgAcc1" presStyleIdx="2" presStyleCnt="7"/>
      <dgm:spPr/>
    </dgm:pt>
    <dgm:pt modelId="{62CD6F40-B788-4945-9FC3-373194FAB283}" type="pres">
      <dgm:prSet presAssocID="{02017533-6498-40E5-94D4-5DE20C076E69}" presName="sibTransNodeCircle" presStyleLbl="alignNode1" presStyleIdx="2" presStyleCnt="7">
        <dgm:presLayoutVars>
          <dgm:chMax val="0"/>
          <dgm:bulletEnabled/>
        </dgm:presLayoutVars>
      </dgm:prSet>
      <dgm:spPr/>
    </dgm:pt>
    <dgm:pt modelId="{3B9C6B0E-FE71-4D62-A6FD-76A4CB7D1CE4}" type="pres">
      <dgm:prSet presAssocID="{B962660A-502D-4FB5-BAE6-E96DFB25B959}" presName="nodeText" presStyleLbl="bgAccFollowNode1" presStyleIdx="0" presStyleCnt="0">
        <dgm:presLayoutVars>
          <dgm:bulletEnabled val="1"/>
        </dgm:presLayoutVars>
      </dgm:prSet>
      <dgm:spPr/>
    </dgm:pt>
    <dgm:pt modelId="{AC70C7F5-D24C-4F03-8098-C3A155C709E0}" type="pres">
      <dgm:prSet presAssocID="{02017533-6498-40E5-94D4-5DE20C076E69}" presName="sibTrans" presStyleCnt="0"/>
      <dgm:spPr/>
    </dgm:pt>
    <dgm:pt modelId="{5A1F809B-B145-41A9-B836-947F8005A00D}" type="pres">
      <dgm:prSet presAssocID="{2B712572-AF14-4211-9F59-EE77C7E72403}" presName="compositeNode" presStyleCnt="0">
        <dgm:presLayoutVars>
          <dgm:bulletEnabled val="1"/>
        </dgm:presLayoutVars>
      </dgm:prSet>
      <dgm:spPr/>
    </dgm:pt>
    <dgm:pt modelId="{FC7C6321-F6DA-4B26-99AB-2FAE39DA40CE}" type="pres">
      <dgm:prSet presAssocID="{2B712572-AF14-4211-9F59-EE77C7E72403}" presName="bgRect" presStyleLbl="fgAcc1" presStyleIdx="3" presStyleCnt="7"/>
      <dgm:spPr/>
    </dgm:pt>
    <dgm:pt modelId="{38530183-7BDB-4944-BC97-C8060AA943D5}" type="pres">
      <dgm:prSet presAssocID="{51E3BFE1-3684-4A6F-B9C0-6D5A5E833059}" presName="sibTransNodeCircle" presStyleLbl="alignNode1" presStyleIdx="3" presStyleCnt="7">
        <dgm:presLayoutVars>
          <dgm:chMax val="0"/>
          <dgm:bulletEnabled/>
        </dgm:presLayoutVars>
      </dgm:prSet>
      <dgm:spPr/>
    </dgm:pt>
    <dgm:pt modelId="{CF8BED20-328B-4F2E-AD85-8FAB91E62FD0}" type="pres">
      <dgm:prSet presAssocID="{2B712572-AF14-4211-9F59-EE77C7E72403}" presName="nodeText" presStyleLbl="bgAccFollowNode1" presStyleIdx="0" presStyleCnt="0">
        <dgm:presLayoutVars>
          <dgm:bulletEnabled val="1"/>
        </dgm:presLayoutVars>
      </dgm:prSet>
      <dgm:spPr/>
    </dgm:pt>
    <dgm:pt modelId="{93F7644D-BBA0-4874-BCF5-36AC9678BEFC}" type="pres">
      <dgm:prSet presAssocID="{51E3BFE1-3684-4A6F-B9C0-6D5A5E833059}" presName="sibTrans" presStyleCnt="0"/>
      <dgm:spPr/>
    </dgm:pt>
    <dgm:pt modelId="{F23AD21E-6BA8-46C1-B21F-E84BB35E32F0}" type="pres">
      <dgm:prSet presAssocID="{8B076D21-C365-4E11-BD1C-86E80F8D34EA}" presName="compositeNode" presStyleCnt="0">
        <dgm:presLayoutVars>
          <dgm:bulletEnabled val="1"/>
        </dgm:presLayoutVars>
      </dgm:prSet>
      <dgm:spPr/>
    </dgm:pt>
    <dgm:pt modelId="{9D698C44-857A-48C2-9D94-425A7583089A}" type="pres">
      <dgm:prSet presAssocID="{8B076D21-C365-4E11-BD1C-86E80F8D34EA}" presName="bgRect" presStyleLbl="fgAcc1" presStyleIdx="4" presStyleCnt="7"/>
      <dgm:spPr/>
    </dgm:pt>
    <dgm:pt modelId="{5E2D7A3A-0ADF-4529-A5B7-53C5359CC8C5}" type="pres">
      <dgm:prSet presAssocID="{E62EA051-6C15-4BE0-9DBC-E9319FDBD3C3}" presName="sibTransNodeCircle" presStyleLbl="alignNode1" presStyleIdx="4" presStyleCnt="7">
        <dgm:presLayoutVars>
          <dgm:chMax val="0"/>
          <dgm:bulletEnabled/>
        </dgm:presLayoutVars>
      </dgm:prSet>
      <dgm:spPr/>
    </dgm:pt>
    <dgm:pt modelId="{B883CA0D-5590-4032-9988-03C95AB5401E}" type="pres">
      <dgm:prSet presAssocID="{8B076D21-C365-4E11-BD1C-86E80F8D34EA}" presName="nodeText" presStyleLbl="bgAccFollowNode1" presStyleIdx="0" presStyleCnt="0">
        <dgm:presLayoutVars>
          <dgm:bulletEnabled val="1"/>
        </dgm:presLayoutVars>
      </dgm:prSet>
      <dgm:spPr/>
    </dgm:pt>
    <dgm:pt modelId="{B17168AE-8F07-4846-A7DA-16C7FCA10017}" type="pres">
      <dgm:prSet presAssocID="{E62EA051-6C15-4BE0-9DBC-E9319FDBD3C3}" presName="sibTrans" presStyleCnt="0"/>
      <dgm:spPr/>
    </dgm:pt>
    <dgm:pt modelId="{DCFABA78-0B6B-4440-87C8-2E20C5990C32}" type="pres">
      <dgm:prSet presAssocID="{6C4EC5D8-A717-4979-904D-471C2DBB0FAA}" presName="compositeNode" presStyleCnt="0">
        <dgm:presLayoutVars>
          <dgm:bulletEnabled val="1"/>
        </dgm:presLayoutVars>
      </dgm:prSet>
      <dgm:spPr/>
    </dgm:pt>
    <dgm:pt modelId="{096ACED1-002F-45A3-BD6A-3A058D13D66F}" type="pres">
      <dgm:prSet presAssocID="{6C4EC5D8-A717-4979-904D-471C2DBB0FAA}" presName="bgRect" presStyleLbl="fgAcc1" presStyleIdx="5" presStyleCnt="7"/>
      <dgm:spPr/>
    </dgm:pt>
    <dgm:pt modelId="{89BE6CA8-E3B7-47F4-89AB-B6730B078759}" type="pres">
      <dgm:prSet presAssocID="{15BF5302-181B-4A8E-B805-B9091E4377E0}" presName="sibTransNodeCircle" presStyleLbl="alignNode1" presStyleIdx="5" presStyleCnt="7">
        <dgm:presLayoutVars>
          <dgm:chMax val="0"/>
          <dgm:bulletEnabled/>
        </dgm:presLayoutVars>
      </dgm:prSet>
      <dgm:spPr/>
    </dgm:pt>
    <dgm:pt modelId="{E0CEBDCB-2F73-4ABD-9CB2-5BB5695AA48D}" type="pres">
      <dgm:prSet presAssocID="{6C4EC5D8-A717-4979-904D-471C2DBB0FAA}" presName="nodeText" presStyleLbl="bgAccFollowNode1" presStyleIdx="0" presStyleCnt="0">
        <dgm:presLayoutVars>
          <dgm:bulletEnabled val="1"/>
        </dgm:presLayoutVars>
      </dgm:prSet>
      <dgm:spPr/>
    </dgm:pt>
    <dgm:pt modelId="{FA72F9ED-0B0D-497E-84BA-170AE4F6746C}" type="pres">
      <dgm:prSet presAssocID="{15BF5302-181B-4A8E-B805-B9091E4377E0}" presName="sibTrans" presStyleCnt="0"/>
      <dgm:spPr/>
    </dgm:pt>
    <dgm:pt modelId="{9A55048B-EC39-4AC7-B35E-491DAF23BE14}" type="pres">
      <dgm:prSet presAssocID="{93B65A91-9C98-4E1E-88F1-C6320A7AD2A9}" presName="compositeNode" presStyleCnt="0">
        <dgm:presLayoutVars>
          <dgm:bulletEnabled val="1"/>
        </dgm:presLayoutVars>
      </dgm:prSet>
      <dgm:spPr/>
    </dgm:pt>
    <dgm:pt modelId="{052D654B-7B58-44B3-9C65-658CF96806BE}" type="pres">
      <dgm:prSet presAssocID="{93B65A91-9C98-4E1E-88F1-C6320A7AD2A9}" presName="bgRect" presStyleLbl="fgAcc1" presStyleIdx="6" presStyleCnt="7"/>
      <dgm:spPr/>
    </dgm:pt>
    <dgm:pt modelId="{B8F75B80-81A1-4A4C-8F62-55D2DF18FBA4}" type="pres">
      <dgm:prSet presAssocID="{DC70F002-A8CC-44D2-B898-A1CD0B92034C}" presName="sibTransNodeCircle" presStyleLbl="alignNode1" presStyleIdx="6" presStyleCnt="7">
        <dgm:presLayoutVars>
          <dgm:chMax val="0"/>
          <dgm:bulletEnabled/>
        </dgm:presLayoutVars>
      </dgm:prSet>
      <dgm:spPr/>
    </dgm:pt>
    <dgm:pt modelId="{BE452AE7-4432-443D-8C26-117516ACA9BF}" type="pres">
      <dgm:prSet presAssocID="{93B65A91-9C98-4E1E-88F1-C6320A7AD2A9}" presName="nodeText" presStyleLbl="bgAccFollowNode1" presStyleIdx="0" presStyleCnt="0">
        <dgm:presLayoutVars>
          <dgm:bulletEnabled val="1"/>
        </dgm:presLayoutVars>
      </dgm:prSet>
      <dgm:spPr/>
    </dgm:pt>
  </dgm:ptLst>
  <dgm:cxnLst>
    <dgm:cxn modelId="{D119C610-BFD6-4EDC-8428-550D4ABA19A0}" type="presOf" srcId="{6C4EC5D8-A717-4979-904D-471C2DBB0FAA}" destId="{E0CEBDCB-2F73-4ABD-9CB2-5BB5695AA48D}" srcOrd="1" destOrd="0" presId="urn:microsoft.com/office/officeart/2024/layout/NumberedTitleList"/>
    <dgm:cxn modelId="{40B77314-FE60-4FE2-8258-6ED731AE5A27}" type="presOf" srcId="{93B65A91-9C98-4E1E-88F1-C6320A7AD2A9}" destId="{052D654B-7B58-44B3-9C65-658CF96806BE}" srcOrd="0" destOrd="0" presId="urn:microsoft.com/office/officeart/2024/layout/NumberedTitleList"/>
    <dgm:cxn modelId="{E2721D15-A30A-4BD2-9373-70CA0A59A22F}" srcId="{25F5AC53-C483-49EC-8E31-F265F23AEC02}" destId="{8B076D21-C365-4E11-BD1C-86E80F8D34EA}" srcOrd="4" destOrd="0" parTransId="{39B6EB39-FCDC-4E56-96BA-9E1BAD1AC459}" sibTransId="{E62EA051-6C15-4BE0-9DBC-E9319FDBD3C3}"/>
    <dgm:cxn modelId="{CD168616-1337-40F2-A9DE-CD0E979D3303}" type="presOf" srcId="{6C4EC5D8-A717-4979-904D-471C2DBB0FAA}" destId="{096ACED1-002F-45A3-BD6A-3A058D13D66F}" srcOrd="0" destOrd="0" presId="urn:microsoft.com/office/officeart/2024/layout/NumberedTitleList"/>
    <dgm:cxn modelId="{0991C016-E6A9-4510-80EF-2F14C1B32806}" type="presOf" srcId="{A8C040B7-8690-4C30-8230-A4A980CC9669}" destId="{F7FAC771-BB6C-41F6-AB32-49FF6E17BD9A}" srcOrd="0" destOrd="0" presId="urn:microsoft.com/office/officeart/2024/layout/NumberedTitleList"/>
    <dgm:cxn modelId="{26685A19-CD51-4839-A863-2BEE0EBAC91A}" type="presOf" srcId="{51E3BFE1-3684-4A6F-B9C0-6D5A5E833059}" destId="{38530183-7BDB-4944-BC97-C8060AA943D5}" srcOrd="0" destOrd="0" presId="urn:microsoft.com/office/officeart/2024/layout/NumberedTitleList"/>
    <dgm:cxn modelId="{BDC3321D-B14E-4618-BBA2-16C60C80A947}" type="presOf" srcId="{8B076D21-C365-4E11-BD1C-86E80F8D34EA}" destId="{B883CA0D-5590-4032-9988-03C95AB5401E}" srcOrd="1" destOrd="0" presId="urn:microsoft.com/office/officeart/2024/layout/NumberedTitleList"/>
    <dgm:cxn modelId="{C5F9E61D-3E51-40B3-8743-19379836819C}" srcId="{25F5AC53-C483-49EC-8E31-F265F23AEC02}" destId="{DF136EA4-DAFD-4541-888D-351018BF4EE2}" srcOrd="1" destOrd="0" parTransId="{24CA4878-22D4-4864-A829-1DA3F216CE1A}" sibTransId="{46CFFE67-BDD5-4A90-B56F-B2A00671B514}"/>
    <dgm:cxn modelId="{5296A41F-ABA6-440D-BB07-905F26C53867}" type="presOf" srcId="{DF136EA4-DAFD-4541-888D-351018BF4EE2}" destId="{AE77E459-44FB-4268-B01B-10C9638C49C2}" srcOrd="1" destOrd="0" presId="urn:microsoft.com/office/officeart/2024/layout/NumberedTitleList"/>
    <dgm:cxn modelId="{55F3795D-F9BA-44A8-8D3A-1ED0ABD14DF5}" type="presOf" srcId="{DF136EA4-DAFD-4541-888D-351018BF4EE2}" destId="{82C28164-786C-4481-B7C1-8987D6243BF1}" srcOrd="0" destOrd="0" presId="urn:microsoft.com/office/officeart/2024/layout/NumberedTitleList"/>
    <dgm:cxn modelId="{F9B60962-C2B2-4CE8-8399-55C28FBAED11}" type="presOf" srcId="{8B076D21-C365-4E11-BD1C-86E80F8D34EA}" destId="{9D698C44-857A-48C2-9D94-425A7583089A}" srcOrd="0" destOrd="0" presId="urn:microsoft.com/office/officeart/2024/layout/NumberedTitleList"/>
    <dgm:cxn modelId="{08EB1167-328F-431D-ADCB-98D799CB73C5}" type="presOf" srcId="{37C3A14B-4D86-46F9-BC9C-34C21BE04955}" destId="{22307A6F-53A1-4E61-9127-A5DBAF866F02}" srcOrd="1" destOrd="0" presId="urn:microsoft.com/office/officeart/2024/layout/NumberedTitleList"/>
    <dgm:cxn modelId="{1CEFF54E-59D1-424C-AD9A-9F8127CE47C0}" srcId="{25F5AC53-C483-49EC-8E31-F265F23AEC02}" destId="{B962660A-502D-4FB5-BAE6-E96DFB25B959}" srcOrd="2" destOrd="0" parTransId="{C9C0B6DC-240E-4339-947B-AB90705FCAA8}" sibTransId="{02017533-6498-40E5-94D4-5DE20C076E69}"/>
    <dgm:cxn modelId="{DEC0836F-A56A-4038-BE19-7668CE809C96}" type="presOf" srcId="{2B712572-AF14-4211-9F59-EE77C7E72403}" destId="{CF8BED20-328B-4F2E-AD85-8FAB91E62FD0}" srcOrd="1" destOrd="0" presId="urn:microsoft.com/office/officeart/2024/layout/NumberedTitleList"/>
    <dgm:cxn modelId="{7A4AF572-B6CB-4B67-B5A8-7410B95F0156}" type="presOf" srcId="{46CFFE67-BDD5-4A90-B56F-B2A00671B514}" destId="{02F32608-898B-4562-900A-0CE1301EB423}" srcOrd="0" destOrd="0" presId="urn:microsoft.com/office/officeart/2024/layout/NumberedTitleList"/>
    <dgm:cxn modelId="{FA54D073-C54E-4E9F-9BA8-1D8C1F043FA9}" type="presOf" srcId="{93B65A91-9C98-4E1E-88F1-C6320A7AD2A9}" destId="{BE452AE7-4432-443D-8C26-117516ACA9BF}" srcOrd="1" destOrd="0" presId="urn:microsoft.com/office/officeart/2024/layout/NumberedTitleList"/>
    <dgm:cxn modelId="{46C3BC77-A45E-445F-A901-892473E55D84}" type="presOf" srcId="{02017533-6498-40E5-94D4-5DE20C076E69}" destId="{62CD6F40-B788-4945-9FC3-373194FAB283}" srcOrd="0" destOrd="0" presId="urn:microsoft.com/office/officeart/2024/layout/NumberedTitleList"/>
    <dgm:cxn modelId="{3D24667C-E40C-449B-8BD7-AE8382C0994A}" type="presOf" srcId="{2B712572-AF14-4211-9F59-EE77C7E72403}" destId="{FC7C6321-F6DA-4B26-99AB-2FAE39DA40CE}" srcOrd="0" destOrd="0" presId="urn:microsoft.com/office/officeart/2024/layout/NumberedTitleList"/>
    <dgm:cxn modelId="{6E08C47C-32FD-4F5C-94BD-57A69A8177DD}" type="presOf" srcId="{25F5AC53-C483-49EC-8E31-F265F23AEC02}" destId="{973627D6-B03B-4777-A6DD-B378A6073D04}" srcOrd="0" destOrd="0" presId="urn:microsoft.com/office/officeart/2024/layout/NumberedTitleList"/>
    <dgm:cxn modelId="{80E1E284-A2A8-4731-9C0E-1A31786E0D72}" srcId="{25F5AC53-C483-49EC-8E31-F265F23AEC02}" destId="{93B65A91-9C98-4E1E-88F1-C6320A7AD2A9}" srcOrd="6" destOrd="0" parTransId="{30D8CD6A-3C16-4E71-B445-BF932E7DBAC1}" sibTransId="{DC70F002-A8CC-44D2-B898-A1CD0B92034C}"/>
    <dgm:cxn modelId="{31B8F696-622A-4E75-A9A4-977CDD6C76CB}" type="presOf" srcId="{E62EA051-6C15-4BE0-9DBC-E9319FDBD3C3}" destId="{5E2D7A3A-0ADF-4529-A5B7-53C5359CC8C5}" srcOrd="0" destOrd="0" presId="urn:microsoft.com/office/officeart/2024/layout/NumberedTitleList"/>
    <dgm:cxn modelId="{873A3CA0-B174-43A9-ABB5-76D06C2BB1DC}" type="presOf" srcId="{B962660A-502D-4FB5-BAE6-E96DFB25B959}" destId="{EE69188A-E7FE-461A-A929-204449523D09}" srcOrd="0" destOrd="0" presId="urn:microsoft.com/office/officeart/2024/layout/NumberedTitleList"/>
    <dgm:cxn modelId="{C50F41AA-EBA5-4459-9946-15C56612E3DD}" srcId="{25F5AC53-C483-49EC-8E31-F265F23AEC02}" destId="{37C3A14B-4D86-46F9-BC9C-34C21BE04955}" srcOrd="0" destOrd="0" parTransId="{D8B04452-B684-4CB0-8EE1-14C29921C4A0}" sibTransId="{A8C040B7-8690-4C30-8230-A4A980CC9669}"/>
    <dgm:cxn modelId="{0CD5A1AE-1502-46F8-A628-64086346C146}" type="presOf" srcId="{37C3A14B-4D86-46F9-BC9C-34C21BE04955}" destId="{569EF652-16E8-4067-AD20-37F7B131ACC4}" srcOrd="0" destOrd="0" presId="urn:microsoft.com/office/officeart/2024/layout/NumberedTitleList"/>
    <dgm:cxn modelId="{C55A0EB6-9349-4D9A-8EB1-9ED45652F208}" type="presOf" srcId="{B962660A-502D-4FB5-BAE6-E96DFB25B959}" destId="{3B9C6B0E-FE71-4D62-A6FD-76A4CB7D1CE4}" srcOrd="1" destOrd="0" presId="urn:microsoft.com/office/officeart/2024/layout/NumberedTitleList"/>
    <dgm:cxn modelId="{24B965B7-9264-4D15-B284-BB87532B98CA}" srcId="{25F5AC53-C483-49EC-8E31-F265F23AEC02}" destId="{6C4EC5D8-A717-4979-904D-471C2DBB0FAA}" srcOrd="5" destOrd="0" parTransId="{192E7247-7C28-4857-B009-56F9A54A0619}" sibTransId="{15BF5302-181B-4A8E-B805-B9091E4377E0}"/>
    <dgm:cxn modelId="{B7D869C6-9693-4C20-8209-6623E51823DF}" type="presOf" srcId="{DC70F002-A8CC-44D2-B898-A1CD0B92034C}" destId="{B8F75B80-81A1-4A4C-8F62-55D2DF18FBA4}" srcOrd="0" destOrd="0" presId="urn:microsoft.com/office/officeart/2024/layout/NumberedTitleList"/>
    <dgm:cxn modelId="{1518A6E5-F1AA-4003-8ACB-2A8FD3EF5D0E}" type="presOf" srcId="{15BF5302-181B-4A8E-B805-B9091E4377E0}" destId="{89BE6CA8-E3B7-47F4-89AB-B6730B078759}" srcOrd="0" destOrd="0" presId="urn:microsoft.com/office/officeart/2024/layout/NumberedTitleList"/>
    <dgm:cxn modelId="{704C9EE9-570B-4B94-9374-3378C72FBF1E}" srcId="{25F5AC53-C483-49EC-8E31-F265F23AEC02}" destId="{2B712572-AF14-4211-9F59-EE77C7E72403}" srcOrd="3" destOrd="0" parTransId="{BF152717-C8FD-4455-98A7-45872656547B}" sibTransId="{51E3BFE1-3684-4A6F-B9C0-6D5A5E833059}"/>
    <dgm:cxn modelId="{CBDEB675-484A-4ED8-8250-EDCFEADA0969}" type="presParOf" srcId="{973627D6-B03B-4777-A6DD-B378A6073D04}" destId="{AC210B58-54FB-4F4A-BD3C-FCBB73C18815}" srcOrd="0" destOrd="0" presId="urn:microsoft.com/office/officeart/2024/layout/NumberedTitleList"/>
    <dgm:cxn modelId="{1FF66321-825C-4D55-8C35-7B7486CEFE1F}" type="presParOf" srcId="{AC210B58-54FB-4F4A-BD3C-FCBB73C18815}" destId="{569EF652-16E8-4067-AD20-37F7B131ACC4}" srcOrd="0" destOrd="0" presId="urn:microsoft.com/office/officeart/2024/layout/NumberedTitleList"/>
    <dgm:cxn modelId="{4DEBD218-EF02-4A89-A09A-6BF9E02868A8}" type="presParOf" srcId="{AC210B58-54FB-4F4A-BD3C-FCBB73C18815}" destId="{F7FAC771-BB6C-41F6-AB32-49FF6E17BD9A}" srcOrd="1" destOrd="0" presId="urn:microsoft.com/office/officeart/2024/layout/NumberedTitleList"/>
    <dgm:cxn modelId="{BD1303B0-4F15-46A7-832B-E04EC185FD17}" type="presParOf" srcId="{AC210B58-54FB-4F4A-BD3C-FCBB73C18815}" destId="{22307A6F-53A1-4E61-9127-A5DBAF866F02}" srcOrd="2" destOrd="0" presId="urn:microsoft.com/office/officeart/2024/layout/NumberedTitleList"/>
    <dgm:cxn modelId="{E3BC6870-C923-4EEC-B3EC-D49FFDCFA9C6}" type="presParOf" srcId="{973627D6-B03B-4777-A6DD-B378A6073D04}" destId="{338F7161-DC0A-424A-BEC6-069E49ED8F9B}" srcOrd="1" destOrd="0" presId="urn:microsoft.com/office/officeart/2024/layout/NumberedTitleList"/>
    <dgm:cxn modelId="{3E81CAC7-2988-4ADA-B635-98FCD6256F24}" type="presParOf" srcId="{973627D6-B03B-4777-A6DD-B378A6073D04}" destId="{58B01CCE-C53F-4BED-B4B6-3A7F857BCF3A}" srcOrd="2" destOrd="0" presId="urn:microsoft.com/office/officeart/2024/layout/NumberedTitleList"/>
    <dgm:cxn modelId="{C2F882E4-E94C-44C2-8F3D-A338FC915DE2}" type="presParOf" srcId="{58B01CCE-C53F-4BED-B4B6-3A7F857BCF3A}" destId="{82C28164-786C-4481-B7C1-8987D6243BF1}" srcOrd="0" destOrd="0" presId="urn:microsoft.com/office/officeart/2024/layout/NumberedTitleList"/>
    <dgm:cxn modelId="{F2BC9712-7A66-4C97-899F-02808CFF0A25}" type="presParOf" srcId="{58B01CCE-C53F-4BED-B4B6-3A7F857BCF3A}" destId="{02F32608-898B-4562-900A-0CE1301EB423}" srcOrd="1" destOrd="0" presId="urn:microsoft.com/office/officeart/2024/layout/NumberedTitleList"/>
    <dgm:cxn modelId="{6EBC2F51-B03D-4BFB-9BD1-FEA7C5FA904E}" type="presParOf" srcId="{58B01CCE-C53F-4BED-B4B6-3A7F857BCF3A}" destId="{AE77E459-44FB-4268-B01B-10C9638C49C2}" srcOrd="2" destOrd="0" presId="urn:microsoft.com/office/officeart/2024/layout/NumberedTitleList"/>
    <dgm:cxn modelId="{68153C40-C4EC-4167-813E-EAD41F24A686}" type="presParOf" srcId="{973627D6-B03B-4777-A6DD-B378A6073D04}" destId="{ADF7F13B-D940-41DB-8AC4-0367B1EF713B}" srcOrd="3" destOrd="0" presId="urn:microsoft.com/office/officeart/2024/layout/NumberedTitleList"/>
    <dgm:cxn modelId="{7D0F98F2-7044-447F-A551-7AD3231EA473}" type="presParOf" srcId="{973627D6-B03B-4777-A6DD-B378A6073D04}" destId="{DCA61B65-1C97-4362-8A10-537308EBACD5}" srcOrd="4" destOrd="0" presId="urn:microsoft.com/office/officeart/2024/layout/NumberedTitleList"/>
    <dgm:cxn modelId="{3F69B79E-C1F1-429A-BE3E-CCECBDFF78DF}" type="presParOf" srcId="{DCA61B65-1C97-4362-8A10-537308EBACD5}" destId="{EE69188A-E7FE-461A-A929-204449523D09}" srcOrd="0" destOrd="0" presId="urn:microsoft.com/office/officeart/2024/layout/NumberedTitleList"/>
    <dgm:cxn modelId="{B92CCA76-565E-4CC1-BE4F-D03C6371CDA2}" type="presParOf" srcId="{DCA61B65-1C97-4362-8A10-537308EBACD5}" destId="{62CD6F40-B788-4945-9FC3-373194FAB283}" srcOrd="1" destOrd="0" presId="urn:microsoft.com/office/officeart/2024/layout/NumberedTitleList"/>
    <dgm:cxn modelId="{81752749-86FB-4C8E-B5AE-F337554D7045}" type="presParOf" srcId="{DCA61B65-1C97-4362-8A10-537308EBACD5}" destId="{3B9C6B0E-FE71-4D62-A6FD-76A4CB7D1CE4}" srcOrd="2" destOrd="0" presId="urn:microsoft.com/office/officeart/2024/layout/NumberedTitleList"/>
    <dgm:cxn modelId="{1B5D6AF0-9D5D-41AF-8E3B-9FF9808909B8}" type="presParOf" srcId="{973627D6-B03B-4777-A6DD-B378A6073D04}" destId="{AC70C7F5-D24C-4F03-8098-C3A155C709E0}" srcOrd="5" destOrd="0" presId="urn:microsoft.com/office/officeart/2024/layout/NumberedTitleList"/>
    <dgm:cxn modelId="{9BA9C5F1-FFEF-45EF-BD4B-1949228C19CA}" type="presParOf" srcId="{973627D6-B03B-4777-A6DD-B378A6073D04}" destId="{5A1F809B-B145-41A9-B836-947F8005A00D}" srcOrd="6" destOrd="0" presId="urn:microsoft.com/office/officeart/2024/layout/NumberedTitleList"/>
    <dgm:cxn modelId="{EDCEFF3F-F20E-474D-B92C-6A0FB0D0D7B0}" type="presParOf" srcId="{5A1F809B-B145-41A9-B836-947F8005A00D}" destId="{FC7C6321-F6DA-4B26-99AB-2FAE39DA40CE}" srcOrd="0" destOrd="0" presId="urn:microsoft.com/office/officeart/2024/layout/NumberedTitleList"/>
    <dgm:cxn modelId="{FE898431-C5F1-4A6A-B46B-2ECE7D9A3758}" type="presParOf" srcId="{5A1F809B-B145-41A9-B836-947F8005A00D}" destId="{38530183-7BDB-4944-BC97-C8060AA943D5}" srcOrd="1" destOrd="0" presId="urn:microsoft.com/office/officeart/2024/layout/NumberedTitleList"/>
    <dgm:cxn modelId="{478C14B8-1430-43C5-B96B-AA2C2BD5A895}" type="presParOf" srcId="{5A1F809B-B145-41A9-B836-947F8005A00D}" destId="{CF8BED20-328B-4F2E-AD85-8FAB91E62FD0}" srcOrd="2" destOrd="0" presId="urn:microsoft.com/office/officeart/2024/layout/NumberedTitleList"/>
    <dgm:cxn modelId="{04E5851F-7871-4A57-B4A7-30FAE69A00E3}" type="presParOf" srcId="{973627D6-B03B-4777-A6DD-B378A6073D04}" destId="{93F7644D-BBA0-4874-BCF5-36AC9678BEFC}" srcOrd="7" destOrd="0" presId="urn:microsoft.com/office/officeart/2024/layout/NumberedTitleList"/>
    <dgm:cxn modelId="{D0B08DB4-611C-4F92-AA41-7EB18E6BD328}" type="presParOf" srcId="{973627D6-B03B-4777-A6DD-B378A6073D04}" destId="{F23AD21E-6BA8-46C1-B21F-E84BB35E32F0}" srcOrd="8" destOrd="0" presId="urn:microsoft.com/office/officeart/2024/layout/NumberedTitleList"/>
    <dgm:cxn modelId="{76E70803-F532-473D-8938-010F9EFE967E}" type="presParOf" srcId="{F23AD21E-6BA8-46C1-B21F-E84BB35E32F0}" destId="{9D698C44-857A-48C2-9D94-425A7583089A}" srcOrd="0" destOrd="0" presId="urn:microsoft.com/office/officeart/2024/layout/NumberedTitleList"/>
    <dgm:cxn modelId="{029E0820-833A-487D-8BAB-75F63EE305D5}" type="presParOf" srcId="{F23AD21E-6BA8-46C1-B21F-E84BB35E32F0}" destId="{5E2D7A3A-0ADF-4529-A5B7-53C5359CC8C5}" srcOrd="1" destOrd="0" presId="urn:microsoft.com/office/officeart/2024/layout/NumberedTitleList"/>
    <dgm:cxn modelId="{40780C6C-99B5-4BAA-8756-6C8ACF14766E}" type="presParOf" srcId="{F23AD21E-6BA8-46C1-B21F-E84BB35E32F0}" destId="{B883CA0D-5590-4032-9988-03C95AB5401E}" srcOrd="2" destOrd="0" presId="urn:microsoft.com/office/officeart/2024/layout/NumberedTitleList"/>
    <dgm:cxn modelId="{84F3C763-C00B-4FBD-B053-9905C2E5454D}" type="presParOf" srcId="{973627D6-B03B-4777-A6DD-B378A6073D04}" destId="{B17168AE-8F07-4846-A7DA-16C7FCA10017}" srcOrd="9" destOrd="0" presId="urn:microsoft.com/office/officeart/2024/layout/NumberedTitleList"/>
    <dgm:cxn modelId="{C7299F24-291A-47E3-9AA9-67FE4BF4FE40}" type="presParOf" srcId="{973627D6-B03B-4777-A6DD-B378A6073D04}" destId="{DCFABA78-0B6B-4440-87C8-2E20C5990C32}" srcOrd="10" destOrd="0" presId="urn:microsoft.com/office/officeart/2024/layout/NumberedTitleList"/>
    <dgm:cxn modelId="{2AB2F452-2290-49F6-BA14-7FC32CC4B499}" type="presParOf" srcId="{DCFABA78-0B6B-4440-87C8-2E20C5990C32}" destId="{096ACED1-002F-45A3-BD6A-3A058D13D66F}" srcOrd="0" destOrd="0" presId="urn:microsoft.com/office/officeart/2024/layout/NumberedTitleList"/>
    <dgm:cxn modelId="{0C4FA1A9-5686-43C3-BDC0-D196342678A4}" type="presParOf" srcId="{DCFABA78-0B6B-4440-87C8-2E20C5990C32}" destId="{89BE6CA8-E3B7-47F4-89AB-B6730B078759}" srcOrd="1" destOrd="0" presId="urn:microsoft.com/office/officeart/2024/layout/NumberedTitleList"/>
    <dgm:cxn modelId="{8FD0221C-D75C-4C18-8A5E-87E8BC61F3DB}" type="presParOf" srcId="{DCFABA78-0B6B-4440-87C8-2E20C5990C32}" destId="{E0CEBDCB-2F73-4ABD-9CB2-5BB5695AA48D}" srcOrd="2" destOrd="0" presId="urn:microsoft.com/office/officeart/2024/layout/NumberedTitleList"/>
    <dgm:cxn modelId="{78D054D6-C24B-40D5-BB79-83D4810AD018}" type="presParOf" srcId="{973627D6-B03B-4777-A6DD-B378A6073D04}" destId="{FA72F9ED-0B0D-497E-84BA-170AE4F6746C}" srcOrd="11" destOrd="0" presId="urn:microsoft.com/office/officeart/2024/layout/NumberedTitleList"/>
    <dgm:cxn modelId="{5AB5E01B-DFCB-43FD-9A12-E12C25040C60}" type="presParOf" srcId="{973627D6-B03B-4777-A6DD-B378A6073D04}" destId="{9A55048B-EC39-4AC7-B35E-491DAF23BE14}" srcOrd="12" destOrd="0" presId="urn:microsoft.com/office/officeart/2024/layout/NumberedTitleList"/>
    <dgm:cxn modelId="{62B2CFAF-1285-4457-B979-4E4E5E27074D}" type="presParOf" srcId="{9A55048B-EC39-4AC7-B35E-491DAF23BE14}" destId="{052D654B-7B58-44B3-9C65-658CF96806BE}" srcOrd="0" destOrd="0" presId="urn:microsoft.com/office/officeart/2024/layout/NumberedTitleList"/>
    <dgm:cxn modelId="{979EEE41-E5F9-47E9-A212-4A9ED8F63948}" type="presParOf" srcId="{9A55048B-EC39-4AC7-B35E-491DAF23BE14}" destId="{B8F75B80-81A1-4A4C-8F62-55D2DF18FBA4}" srcOrd="1" destOrd="0" presId="urn:microsoft.com/office/officeart/2024/layout/NumberedTitleList"/>
    <dgm:cxn modelId="{CB4BFDFC-AE0F-45B6-B14A-0B75F5DF6F1D}" type="presParOf" srcId="{9A55048B-EC39-4AC7-B35E-491DAF23BE14}" destId="{BE452AE7-4432-443D-8C26-117516ACA9BF}" srcOrd="2" destOrd="0" presId="urn:microsoft.com/office/officeart/2024/layout/NumberedTit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9EF652-16E8-4067-AD20-37F7B131ACC4}">
      <dsp:nvSpPr>
        <dsp:cNvPr id="0" name=""/>
        <dsp:cNvSpPr/>
      </dsp:nvSpPr>
      <dsp:spPr>
        <a:xfrm>
          <a:off x="10715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문제 정의</a:t>
          </a:r>
        </a:p>
      </dsp:txBody>
      <dsp:txXfrm>
        <a:off x="10715" y="4019161"/>
        <a:ext cx="1601390" cy="1165812"/>
      </dsp:txXfrm>
    </dsp:sp>
    <dsp:sp modelId="{F7FAC771-BB6C-41F6-AB32-49FF6E17BD9A}">
      <dsp:nvSpPr>
        <dsp:cNvPr id="0" name=""/>
        <dsp:cNvSpPr/>
      </dsp:nvSpPr>
      <dsp:spPr>
        <a:xfrm>
          <a:off x="363021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4300" kern="1200"/>
            <a:t>1</a:t>
          </a:r>
        </a:p>
      </dsp:txBody>
      <dsp:txXfrm>
        <a:off x="494351" y="3242502"/>
        <a:ext cx="634118" cy="634118"/>
      </dsp:txXfrm>
    </dsp:sp>
    <dsp:sp modelId="{82C28164-786C-4481-B7C1-8987D6243BF1}">
      <dsp:nvSpPr>
        <dsp:cNvPr id="0" name=""/>
        <dsp:cNvSpPr/>
      </dsp:nvSpPr>
      <dsp:spPr>
        <a:xfrm>
          <a:off x="1772245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타겟 사용자</a:t>
          </a:r>
        </a:p>
      </dsp:txBody>
      <dsp:txXfrm>
        <a:off x="1772245" y="4019161"/>
        <a:ext cx="1601390" cy="1165812"/>
      </dsp:txXfrm>
    </dsp:sp>
    <dsp:sp modelId="{02F32608-898B-4562-900A-0CE1301EB423}">
      <dsp:nvSpPr>
        <dsp:cNvPr id="0" name=""/>
        <dsp:cNvSpPr/>
      </dsp:nvSpPr>
      <dsp:spPr>
        <a:xfrm>
          <a:off x="2124551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2</a:t>
          </a:r>
        </a:p>
      </dsp:txBody>
      <dsp:txXfrm>
        <a:off x="2255881" y="3242502"/>
        <a:ext cx="634118" cy="634118"/>
      </dsp:txXfrm>
    </dsp:sp>
    <dsp:sp modelId="{EE69188A-E7FE-461A-A929-204449523D09}">
      <dsp:nvSpPr>
        <dsp:cNvPr id="0" name=""/>
        <dsp:cNvSpPr/>
      </dsp:nvSpPr>
      <dsp:spPr>
        <a:xfrm>
          <a:off x="3533775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서비스 개요</a:t>
          </a:r>
        </a:p>
      </dsp:txBody>
      <dsp:txXfrm>
        <a:off x="3533775" y="4019161"/>
        <a:ext cx="1601390" cy="1165812"/>
      </dsp:txXfrm>
    </dsp:sp>
    <dsp:sp modelId="{62CD6F40-B788-4945-9FC3-373194FAB283}">
      <dsp:nvSpPr>
        <dsp:cNvPr id="0" name=""/>
        <dsp:cNvSpPr/>
      </dsp:nvSpPr>
      <dsp:spPr>
        <a:xfrm>
          <a:off x="3886080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3</a:t>
          </a:r>
        </a:p>
      </dsp:txBody>
      <dsp:txXfrm>
        <a:off x="4017410" y="3242502"/>
        <a:ext cx="634118" cy="634118"/>
      </dsp:txXfrm>
    </dsp:sp>
    <dsp:sp modelId="{FC7C6321-F6DA-4B26-99AB-2FAE39DA40CE}">
      <dsp:nvSpPr>
        <dsp:cNvPr id="0" name=""/>
        <dsp:cNvSpPr/>
      </dsp:nvSpPr>
      <dsp:spPr>
        <a:xfrm>
          <a:off x="5295304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700" kern="1200" dirty="0"/>
            <a:t>AI </a:t>
          </a:r>
          <a:r>
            <a:rPr lang="ko-KR" altLang="en-US" sz="1700" kern="1200" dirty="0"/>
            <a:t>기술 적용</a:t>
          </a:r>
        </a:p>
      </dsp:txBody>
      <dsp:txXfrm>
        <a:off x="5295304" y="4019161"/>
        <a:ext cx="1601390" cy="1165812"/>
      </dsp:txXfrm>
    </dsp:sp>
    <dsp:sp modelId="{38530183-7BDB-4944-BC97-C8060AA943D5}">
      <dsp:nvSpPr>
        <dsp:cNvPr id="0" name=""/>
        <dsp:cNvSpPr/>
      </dsp:nvSpPr>
      <dsp:spPr>
        <a:xfrm>
          <a:off x="5647610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4</a:t>
          </a:r>
        </a:p>
      </dsp:txBody>
      <dsp:txXfrm>
        <a:off x="5778940" y="3242502"/>
        <a:ext cx="634118" cy="634118"/>
      </dsp:txXfrm>
    </dsp:sp>
    <dsp:sp modelId="{9D698C44-857A-48C2-9D94-425A7583089A}">
      <dsp:nvSpPr>
        <dsp:cNvPr id="0" name=""/>
        <dsp:cNvSpPr/>
      </dsp:nvSpPr>
      <dsp:spPr>
        <a:xfrm>
          <a:off x="7056834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시스템 구성</a:t>
          </a:r>
        </a:p>
      </dsp:txBody>
      <dsp:txXfrm>
        <a:off x="7056834" y="4019161"/>
        <a:ext cx="1601390" cy="1165812"/>
      </dsp:txXfrm>
    </dsp:sp>
    <dsp:sp modelId="{5E2D7A3A-0ADF-4529-A5B7-53C5359CC8C5}">
      <dsp:nvSpPr>
        <dsp:cNvPr id="0" name=""/>
        <dsp:cNvSpPr/>
      </dsp:nvSpPr>
      <dsp:spPr>
        <a:xfrm>
          <a:off x="7409140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5</a:t>
          </a:r>
        </a:p>
      </dsp:txBody>
      <dsp:txXfrm>
        <a:off x="7540470" y="3242502"/>
        <a:ext cx="634118" cy="634118"/>
      </dsp:txXfrm>
    </dsp:sp>
    <dsp:sp modelId="{096ACED1-002F-45A3-BD6A-3A058D13D66F}">
      <dsp:nvSpPr>
        <dsp:cNvPr id="0" name=""/>
        <dsp:cNvSpPr/>
      </dsp:nvSpPr>
      <dsp:spPr>
        <a:xfrm>
          <a:off x="8818364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기대효과</a:t>
          </a:r>
        </a:p>
      </dsp:txBody>
      <dsp:txXfrm>
        <a:off x="8818364" y="4019161"/>
        <a:ext cx="1601390" cy="1165812"/>
      </dsp:txXfrm>
    </dsp:sp>
    <dsp:sp modelId="{89BE6CA8-E3B7-47F4-89AB-B6730B078759}">
      <dsp:nvSpPr>
        <dsp:cNvPr id="0" name=""/>
        <dsp:cNvSpPr/>
      </dsp:nvSpPr>
      <dsp:spPr>
        <a:xfrm>
          <a:off x="9170670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6</a:t>
          </a:r>
        </a:p>
      </dsp:txBody>
      <dsp:txXfrm>
        <a:off x="9302000" y="3242502"/>
        <a:ext cx="634118" cy="634118"/>
      </dsp:txXfrm>
    </dsp:sp>
    <dsp:sp modelId="{052D654B-7B58-44B3-9C65-658CF96806BE}">
      <dsp:nvSpPr>
        <dsp:cNvPr id="0" name=""/>
        <dsp:cNvSpPr/>
      </dsp:nvSpPr>
      <dsp:spPr>
        <a:xfrm>
          <a:off x="10579893" y="2943026"/>
          <a:ext cx="1601390" cy="22419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740" tIns="330200" rIns="84740" bIns="33020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700" kern="1200" dirty="0"/>
            <a:t>향후 발전 방향</a:t>
          </a:r>
        </a:p>
      </dsp:txBody>
      <dsp:txXfrm>
        <a:off x="10579893" y="4019161"/>
        <a:ext cx="1601390" cy="1165812"/>
      </dsp:txXfrm>
    </dsp:sp>
    <dsp:sp modelId="{B8F75B80-81A1-4A4C-8F62-55D2DF18FBA4}">
      <dsp:nvSpPr>
        <dsp:cNvPr id="0" name=""/>
        <dsp:cNvSpPr/>
      </dsp:nvSpPr>
      <dsp:spPr>
        <a:xfrm>
          <a:off x="10932199" y="3111172"/>
          <a:ext cx="896778" cy="8967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455" tIns="12700" rIns="47455" bIns="1270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4300" kern="1200"/>
            <a:t>7</a:t>
          </a:r>
        </a:p>
      </dsp:txBody>
      <dsp:txXfrm>
        <a:off x="11063529" y="3242502"/>
        <a:ext cx="634118" cy="6341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List">
  <dgm:title val=""/>
  <dgm:desc val=""/>
  <dgm:catLst>
    <dgm:cat type="textcard" pri="202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4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75"/>
          <dgm:constr type="r" for="ch" forName="nodeText" refType="r" refFor="ch" refForName="bgRect"/>
          <dgm:constr type="h" for="ch" forName="nodeText" refType="h" refFor="ch" refForName="bgRect" fact="0.52"/>
          <dgm:constr type="t" for="ch" forName="nodeText" refType="h" refFor="ch" refForName="bgRect" fact="0.48"/>
        </dgm:constrLst>
        <dgm:ruleLst/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15"/>
              <dgm:constr type="rMarg" refType="w" fact="0.15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nodeText" styleLbl="bgAccFollowNode1" moveWith="bgRect">
          <dgm:varLst>
            <dgm:bulletEnabled val="1"/>
          </dgm:varLst>
          <dgm:alg type="tx">
            <dgm:param type="parTxLTRAlign" val="ctr"/>
            <dgm:param type="parTxRTLAlign" val="r"/>
            <dgm:param type="txAnchorVert" val="mid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32"/>
            <dgm:constr type="tMarg" val="26"/>
            <dgm:constr type="lMarg" refType="w" fact="0.15"/>
            <dgm:constr type="rMarg" refType="w" fact="0.1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EAB5C2-28EB-4AC4-9F47-9D145E073E3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06E3B7-6ACA-406E-BF18-5999DB618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091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B8C7E-1BFE-4148-B89C-3E6B9ACDB83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47978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324755" y="407620"/>
            <a:ext cx="17639030" cy="9472295"/>
          </a:xfrm>
          <a:custGeom>
            <a:avLst/>
            <a:gdLst/>
            <a:ahLst/>
            <a:cxnLst/>
            <a:rect l="l" t="t" r="r" b="b"/>
            <a:pathLst>
              <a:path w="17639030" h="9472295">
                <a:moveTo>
                  <a:pt x="17305120" y="9471769"/>
                </a:moveTo>
                <a:lnTo>
                  <a:pt x="333374" y="9471769"/>
                </a:lnTo>
                <a:lnTo>
                  <a:pt x="284111" y="9468154"/>
                </a:lnTo>
                <a:lnTo>
                  <a:pt x="237092" y="9457654"/>
                </a:lnTo>
                <a:lnTo>
                  <a:pt x="192832" y="9440783"/>
                </a:lnTo>
                <a:lnTo>
                  <a:pt x="151849" y="9418059"/>
                </a:lnTo>
                <a:lnTo>
                  <a:pt x="114656" y="9389995"/>
                </a:lnTo>
                <a:lnTo>
                  <a:pt x="81771" y="9357109"/>
                </a:lnTo>
                <a:lnTo>
                  <a:pt x="53708" y="9319915"/>
                </a:lnTo>
                <a:lnTo>
                  <a:pt x="30984" y="9278929"/>
                </a:lnTo>
                <a:lnTo>
                  <a:pt x="14114" y="9234667"/>
                </a:lnTo>
                <a:lnTo>
                  <a:pt x="3614" y="9187645"/>
                </a:lnTo>
                <a:lnTo>
                  <a:pt x="0" y="9138379"/>
                </a:lnTo>
                <a:lnTo>
                  <a:pt x="0" y="333374"/>
                </a:lnTo>
                <a:lnTo>
                  <a:pt x="3614" y="284111"/>
                </a:lnTo>
                <a:lnTo>
                  <a:pt x="14114" y="237092"/>
                </a:lnTo>
                <a:lnTo>
                  <a:pt x="30984" y="192832"/>
                </a:lnTo>
                <a:lnTo>
                  <a:pt x="53708" y="151849"/>
                </a:lnTo>
                <a:lnTo>
                  <a:pt x="81771" y="114656"/>
                </a:lnTo>
                <a:lnTo>
                  <a:pt x="114656" y="81771"/>
                </a:lnTo>
                <a:lnTo>
                  <a:pt x="151849" y="53708"/>
                </a:lnTo>
                <a:lnTo>
                  <a:pt x="192832" y="30984"/>
                </a:lnTo>
                <a:lnTo>
                  <a:pt x="237092" y="14114"/>
                </a:lnTo>
                <a:lnTo>
                  <a:pt x="284111" y="3614"/>
                </a:lnTo>
                <a:lnTo>
                  <a:pt x="333374" y="0"/>
                </a:lnTo>
                <a:lnTo>
                  <a:pt x="17305120" y="0"/>
                </a:lnTo>
                <a:lnTo>
                  <a:pt x="17354379" y="3614"/>
                </a:lnTo>
                <a:lnTo>
                  <a:pt x="17401394" y="14114"/>
                </a:lnTo>
                <a:lnTo>
                  <a:pt x="17445651" y="30984"/>
                </a:lnTo>
                <a:lnTo>
                  <a:pt x="17486633" y="53708"/>
                </a:lnTo>
                <a:lnTo>
                  <a:pt x="17523824" y="81771"/>
                </a:lnTo>
                <a:lnTo>
                  <a:pt x="17556708" y="114656"/>
                </a:lnTo>
                <a:lnTo>
                  <a:pt x="17584770" y="151849"/>
                </a:lnTo>
                <a:lnTo>
                  <a:pt x="17607494" y="192832"/>
                </a:lnTo>
                <a:lnTo>
                  <a:pt x="17624364" y="237092"/>
                </a:lnTo>
                <a:lnTo>
                  <a:pt x="17634865" y="284111"/>
                </a:lnTo>
                <a:lnTo>
                  <a:pt x="17638479" y="333374"/>
                </a:lnTo>
                <a:lnTo>
                  <a:pt x="17638479" y="9138379"/>
                </a:lnTo>
                <a:lnTo>
                  <a:pt x="17634865" y="9187645"/>
                </a:lnTo>
                <a:lnTo>
                  <a:pt x="17624364" y="9234667"/>
                </a:lnTo>
                <a:lnTo>
                  <a:pt x="17607494" y="9278929"/>
                </a:lnTo>
                <a:lnTo>
                  <a:pt x="17584770" y="9319915"/>
                </a:lnTo>
                <a:lnTo>
                  <a:pt x="17556708" y="9357109"/>
                </a:lnTo>
                <a:lnTo>
                  <a:pt x="17523824" y="9389995"/>
                </a:lnTo>
                <a:lnTo>
                  <a:pt x="17486633" y="9418059"/>
                </a:lnTo>
                <a:lnTo>
                  <a:pt x="17445651" y="9440783"/>
                </a:lnTo>
                <a:lnTo>
                  <a:pt x="17401394" y="9457654"/>
                </a:lnTo>
                <a:lnTo>
                  <a:pt x="17354379" y="9468154"/>
                </a:lnTo>
                <a:lnTo>
                  <a:pt x="17305120" y="947176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81976" y="1017020"/>
            <a:ext cx="2619375" cy="977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49368" y="2307661"/>
            <a:ext cx="10911205" cy="6451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53D032-E458-F6A8-9ADF-AB36F7D36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923330"/>
          </a:xfrm>
        </p:spPr>
        <p:txBody>
          <a:bodyPr/>
          <a:lstStyle/>
          <a:p>
            <a:pPr algn="ctr"/>
            <a:r>
              <a:rPr lang="ko-KR" altLang="en-US" sz="6000" dirty="0">
                <a:solidFill>
                  <a:srgbClr val="002060"/>
                </a:solidFill>
                <a:latin typeface="+mj-ea"/>
              </a:rPr>
              <a:t>객체 인식과 추론을 활용한 자율 충전 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897EAD-CE31-F569-48E5-E5306D603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600" y="4627900"/>
            <a:ext cx="6629400" cy="3664352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7804FA2F-22E7-6A38-96E1-A4B9B0A420D9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2743200" y="4166235"/>
            <a:ext cx="12801600" cy="923330"/>
          </a:xfrm>
        </p:spPr>
        <p:txBody>
          <a:bodyPr/>
          <a:lstStyle/>
          <a:p>
            <a:pPr algn="r"/>
            <a:r>
              <a:rPr lang="ko-KR" altLang="en-US" sz="6000" dirty="0">
                <a:solidFill>
                  <a:srgbClr val="002060"/>
                </a:solidFill>
                <a:latin typeface="+mj-ea"/>
                <a:ea typeface="+mj-ea"/>
              </a:rPr>
              <a:t>변전소 경비 </a:t>
            </a:r>
            <a:r>
              <a:rPr lang="ko-KR" altLang="en-US" sz="6000" dirty="0" err="1">
                <a:solidFill>
                  <a:srgbClr val="002060"/>
                </a:solidFill>
                <a:latin typeface="+mj-ea"/>
                <a:ea typeface="+mj-ea"/>
              </a:rPr>
              <a:t>드론</a:t>
            </a:r>
            <a:endParaRPr lang="ko-KR" altLang="en-US" sz="6000" dirty="0">
              <a:solidFill>
                <a:srgbClr val="002060"/>
              </a:solidFill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CEFB06D8-BD28-3797-D190-A77B633F7971}"/>
              </a:ext>
            </a:extLst>
          </p:cNvPr>
          <p:cNvSpPr txBox="1">
            <a:spLocks/>
          </p:cNvSpPr>
          <p:nvPr/>
        </p:nvSpPr>
        <p:spPr>
          <a:xfrm>
            <a:off x="5029200" y="7581900"/>
            <a:ext cx="12801600" cy="22159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3150" b="0" i="0">
                <a:solidFill>
                  <a:srgbClr val="737373"/>
                </a:solidFill>
                <a:latin typeface="Malgun Gothic"/>
                <a:ea typeface="+mn-ea"/>
                <a:cs typeface="Malgun Gothic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800" dirty="0" err="1">
                <a:solidFill>
                  <a:srgbClr val="002060"/>
                </a:solidFill>
                <a:latin typeface="+mn-ea"/>
              </a:rPr>
              <a:t>텀</a:t>
            </a:r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 프로젝트 </a:t>
            </a:r>
            <a:r>
              <a:rPr lang="en-US" altLang="ko-KR" sz="1800" dirty="0">
                <a:solidFill>
                  <a:srgbClr val="002060"/>
                </a:solidFill>
                <a:latin typeface="+mn-ea"/>
              </a:rPr>
              <a:t>1</a:t>
            </a:r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조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 err="1">
                <a:solidFill>
                  <a:srgbClr val="002060"/>
                </a:solidFill>
                <a:latin typeface="+mn-ea"/>
              </a:rPr>
              <a:t>스카이가드</a:t>
            </a:r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 팀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나상화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 err="1">
                <a:solidFill>
                  <a:srgbClr val="002060"/>
                </a:solidFill>
                <a:latin typeface="+mn-ea"/>
              </a:rPr>
              <a:t>김희서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 err="1">
                <a:solidFill>
                  <a:srgbClr val="002060"/>
                </a:solidFill>
                <a:latin typeface="+mn-ea"/>
              </a:rPr>
              <a:t>정건희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정우철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최정윤</a:t>
            </a:r>
            <a:endParaRPr lang="en-US" altLang="ko-KR" sz="2400" dirty="0">
              <a:solidFill>
                <a:srgbClr val="00206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52513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2" name="object 12"/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목차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  <p:graphicFrame>
        <p:nvGraphicFramePr>
          <p:cNvPr id="35" name="다이어그램 34">
            <a:extLst>
              <a:ext uri="{FF2B5EF4-FFF2-40B4-BE49-F238E27FC236}">
                <a16:creationId xmlns:a16="http://schemas.microsoft.com/office/drawing/2014/main" id="{8089E1A1-23AD-5B20-432A-249D04C680E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95638129"/>
              </p:ext>
            </p:extLst>
          </p:nvPr>
        </p:nvGraphicFramePr>
        <p:xfrm>
          <a:off x="3048000" y="1079500"/>
          <a:ext cx="12192000" cy="812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4">
            <a:extLst>
              <a:ext uri="{FF2B5EF4-FFF2-40B4-BE49-F238E27FC236}">
                <a16:creationId xmlns:a16="http://schemas.microsoft.com/office/drawing/2014/main" id="{B60692C6-28EF-C530-B0FB-79E046F9049E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7" name="object 12">
            <a:extLst>
              <a:ext uri="{FF2B5EF4-FFF2-40B4-BE49-F238E27FC236}">
                <a16:creationId xmlns:a16="http://schemas.microsoft.com/office/drawing/2014/main" id="{55247B4D-94A6-7E19-86FD-25D46DC7207C}"/>
              </a:ext>
            </a:extLst>
          </p:cNvPr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문제 정의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60120" y="2057400"/>
            <a:ext cx="5074920" cy="3611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07592" y="2368296"/>
            <a:ext cx="603504" cy="603504"/>
          </a:xfrm>
          <a:prstGeom prst="ellipse">
            <a:avLst/>
          </a:prstGeom>
          <a:solidFill>
            <a:srgbClr val="4F7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07592" y="2487168"/>
            <a:ext cx="603504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dirty="0">
                <a:solidFill>
                  <a:srgbClr val="FFFFFF"/>
                </a:solidFill>
                <a:latin typeface="+mj-ea"/>
                <a:ea typeface="+mj-e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459736"/>
            <a:ext cx="3657600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낡고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수동적인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보안</a:t>
            </a:r>
            <a:endParaRPr sz="24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25880" y="3227832"/>
            <a:ext cx="4343400" cy="18288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44168" y="3474720"/>
            <a:ext cx="4599432" cy="1757469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70000"/>
              </a:lnSpc>
              <a:spcAft>
                <a:spcPts val="16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고정형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CCTV는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정해진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화각만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반복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촬영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70000"/>
              </a:lnSpc>
              <a:spcAft>
                <a:spcPts val="16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이상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발생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후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영상을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되돌려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보는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사후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대응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70000"/>
              </a:lnSpc>
              <a:spcAft>
                <a:spcPts val="16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관제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인력의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상시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모니터링에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의존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92240" y="2057400"/>
            <a:ext cx="5074920" cy="3611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839712" y="2368296"/>
            <a:ext cx="603504" cy="603504"/>
          </a:xfrm>
          <a:prstGeom prst="ellipse">
            <a:avLst/>
          </a:prstGeom>
          <a:solidFill>
            <a:srgbClr val="649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39712" y="2487168"/>
            <a:ext cx="603504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dirty="0">
                <a:solidFill>
                  <a:srgbClr val="FFFFFF"/>
                </a:solidFill>
                <a:latin typeface="+mj-ea"/>
                <a:ea typeface="+mj-e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2459736"/>
            <a:ext cx="3657600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사각지대와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외곽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보안</a:t>
            </a:r>
            <a:endParaRPr sz="24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858000" y="3227832"/>
            <a:ext cx="4343400" cy="18288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76288" y="3474720"/>
            <a:ext cx="4553712" cy="1757469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70000"/>
              </a:lnSpc>
              <a:spcAft>
                <a:spcPts val="16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넓은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부지와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긴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외곽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펜스에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사각지대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상존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70000"/>
              </a:lnSpc>
              <a:spcAft>
                <a:spcPts val="16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외곽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침입은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탐지까지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시간이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지연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70000"/>
              </a:lnSpc>
              <a:spcAft>
                <a:spcPts val="16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야간·악천후에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식별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정확도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저하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2024360" y="2057400"/>
            <a:ext cx="5074920" cy="3611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2371832" y="2368296"/>
            <a:ext cx="603504" cy="603504"/>
          </a:xfrm>
          <a:prstGeom prst="ellipse">
            <a:avLst/>
          </a:prstGeom>
          <a:solidFill>
            <a:srgbClr val="678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371832" y="2487168"/>
            <a:ext cx="603504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dirty="0">
                <a:solidFill>
                  <a:srgbClr val="FFFFFF"/>
                </a:solidFill>
                <a:latin typeface="+mj-ea"/>
                <a:ea typeface="+mj-e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2459736"/>
            <a:ext cx="3657600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인력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운영의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갈등</a:t>
            </a:r>
            <a:endParaRPr sz="24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2390120" y="3227832"/>
            <a:ext cx="4343400" cy="18288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408408" y="3474720"/>
            <a:ext cx="4297680" cy="1757469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70000"/>
              </a:lnSpc>
              <a:spcAft>
                <a:spcPts val="1600"/>
              </a:spcAft>
            </a:pP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야간</a:t>
            </a: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교대근무로</a:t>
            </a: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피로</a:t>
            </a: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누적</a:t>
            </a:r>
            <a:endParaRPr b="0" dirty="0">
              <a:solidFill>
                <a:srgbClr val="262626"/>
              </a:solidFill>
              <a:latin typeface="+mj-ea"/>
              <a:ea typeface="+mj-ea"/>
            </a:endParaRPr>
          </a:p>
          <a:p>
            <a:pPr algn="l">
              <a:lnSpc>
                <a:spcPct val="170000"/>
              </a:lnSpc>
              <a:spcAft>
                <a:spcPts val="1600"/>
              </a:spcAft>
            </a:pP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고용</a:t>
            </a: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불안정으로</a:t>
            </a: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인력</a:t>
            </a: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유지</a:t>
            </a: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부담</a:t>
            </a:r>
            <a:endParaRPr b="0" dirty="0">
              <a:solidFill>
                <a:srgbClr val="262626"/>
              </a:solidFill>
              <a:latin typeface="+mj-ea"/>
              <a:ea typeface="+mj-ea"/>
            </a:endParaRPr>
          </a:p>
          <a:p>
            <a:pPr algn="l">
              <a:lnSpc>
                <a:spcPct val="170000"/>
              </a:lnSpc>
              <a:spcAft>
                <a:spcPts val="1600"/>
              </a:spcAft>
            </a:pP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위험구역</a:t>
            </a: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순찰의</a:t>
            </a: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안전</a:t>
            </a:r>
            <a:r>
              <a:rPr b="0" dirty="0">
                <a:solidFill>
                  <a:srgbClr val="262626"/>
                </a:solidFill>
                <a:latin typeface="+mj-ea"/>
                <a:ea typeface="+mj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j-ea"/>
                <a:ea typeface="+mj-ea"/>
              </a:rPr>
              <a:t>리스크</a:t>
            </a:r>
            <a:endParaRPr b="0" dirty="0">
              <a:solidFill>
                <a:srgbClr val="262626"/>
              </a:solidFill>
              <a:latin typeface="+mj-ea"/>
              <a:ea typeface="+mj-ea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5989320"/>
            <a:ext cx="16139159" cy="1691640"/>
          </a:xfrm>
          <a:prstGeom prst="roundRect">
            <a:avLst/>
          </a:prstGeom>
          <a:solidFill>
            <a:srgbClr val="FAFAFA"/>
          </a:solidFill>
          <a:ln w="952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33292" y="6277356"/>
            <a:ext cx="1737360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공통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원인</a:t>
            </a:r>
            <a:endParaRPr sz="24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35928" y="6252297"/>
            <a:ext cx="13624560" cy="1234377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marL="285750" indent="-285750" algn="l">
              <a:lnSpc>
                <a:spcPct val="13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감시가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고정된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위치에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묶여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있어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,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넓은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부지를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동시에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살피지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못한다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marL="285750" indent="-285750" algn="l">
              <a:lnSpc>
                <a:spcPct val="13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이상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상황의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최종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확인이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결국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사람의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이동과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판단에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의존한다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marL="285750" indent="-285750" algn="l">
              <a:lnSpc>
                <a:spcPct val="135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야간·악천후·인력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공백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시점에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대응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공백이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그대로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노출된다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960120" y="7909560"/>
            <a:ext cx="16139159" cy="402336"/>
          </a:xfrm>
          <a:prstGeom prst="roundRect">
            <a:avLst/>
          </a:prstGeom>
          <a:solidFill>
            <a:srgbClr val="FFF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34440" y="7955280"/>
            <a:ext cx="15636240" cy="246221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핵심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 | 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고정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CCTV와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유인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순찰만으로는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넓은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변전소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부지의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사각지대와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야간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대응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공백을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메울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수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없다</a:t>
            </a:r>
            <a:endParaRPr sz="1600" b="1" dirty="0">
              <a:solidFill>
                <a:srgbClr val="4F708B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E05CD-9331-DB6E-489A-7ADCD0B5E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D94307B9-4514-089C-012E-C0EC3AB47187}"/>
              </a:ext>
            </a:extLst>
          </p:cNvPr>
          <p:cNvSpPr txBox="1"/>
          <p:nvPr/>
        </p:nvSpPr>
        <p:spPr>
          <a:xfrm>
            <a:off x="981834" y="8864017"/>
            <a:ext cx="16178141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400" b="1" dirty="0">
                <a:solidFill>
                  <a:schemeClr val="tx1"/>
                </a:solidFill>
                <a:latin typeface="Aptos"/>
              </a:rPr>
              <a:t>&gt;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한전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현장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운영·설비진단·안전·DX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담당자를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먼저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인터뷰하고</a:t>
            </a:r>
            <a:r>
              <a:rPr lang="en-US"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lang="ko-KR" altLang="en-US" sz="2400" b="1" dirty="0">
                <a:solidFill>
                  <a:schemeClr val="tx1"/>
                </a:solidFill>
                <a:latin typeface="Aptos"/>
              </a:rPr>
              <a:t>이후</a:t>
            </a:r>
            <a:r>
              <a:rPr lang="en-US"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대형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산업체로</a:t>
            </a:r>
            <a:r>
              <a:rPr sz="2400" b="1" dirty="0">
                <a:solidFill>
                  <a:schemeClr val="tx1"/>
                </a:solidFill>
                <a:latin typeface="Aptos"/>
              </a:rPr>
              <a:t> </a:t>
            </a:r>
            <a:r>
              <a:rPr sz="2400" b="1" dirty="0" err="1">
                <a:solidFill>
                  <a:schemeClr val="tx1"/>
                </a:solidFill>
                <a:latin typeface="Aptos"/>
              </a:rPr>
              <a:t>확장</a:t>
            </a:r>
            <a:endParaRPr sz="2400" b="1" dirty="0">
              <a:solidFill>
                <a:schemeClr val="tx1"/>
              </a:solidFill>
              <a:latin typeface="Aptos"/>
            </a:endParaRPr>
          </a:p>
        </p:txBody>
      </p:sp>
      <p:sp>
        <p:nvSpPr>
          <p:cNvPr id="16" name="Rounded Rectangle 5">
            <a:extLst>
              <a:ext uri="{FF2B5EF4-FFF2-40B4-BE49-F238E27FC236}">
                <a16:creationId xmlns:a16="http://schemas.microsoft.com/office/drawing/2014/main" id="{C7671323-D54A-5A69-658F-943AE4CD8937}"/>
              </a:ext>
            </a:extLst>
          </p:cNvPr>
          <p:cNvSpPr/>
          <p:nvPr/>
        </p:nvSpPr>
        <p:spPr>
          <a:xfrm>
            <a:off x="981834" y="1822890"/>
            <a:ext cx="5164423" cy="3215180"/>
          </a:xfrm>
          <a:prstGeom prst="roundRect">
            <a:avLst/>
          </a:prstGeom>
          <a:solidFill>
            <a:srgbClr val="FFFFFF"/>
          </a:solidFill>
          <a:ln>
            <a:solidFill>
              <a:srgbClr val="E4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18" name="Rounded Rectangle 10">
            <a:extLst>
              <a:ext uri="{FF2B5EF4-FFF2-40B4-BE49-F238E27FC236}">
                <a16:creationId xmlns:a16="http://schemas.microsoft.com/office/drawing/2014/main" id="{4994FF3A-36F4-F1B0-0433-D83A9D8F5ED2}"/>
              </a:ext>
            </a:extLst>
          </p:cNvPr>
          <p:cNvSpPr/>
          <p:nvPr/>
        </p:nvSpPr>
        <p:spPr>
          <a:xfrm>
            <a:off x="6558054" y="1822890"/>
            <a:ext cx="5164423" cy="3183446"/>
          </a:xfrm>
          <a:prstGeom prst="roundRect">
            <a:avLst/>
          </a:prstGeom>
          <a:solidFill>
            <a:srgbClr val="FFFFFF"/>
          </a:solidFill>
          <a:ln>
            <a:solidFill>
              <a:srgbClr val="E4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4" name="Rounded Rectangle 20">
            <a:extLst>
              <a:ext uri="{FF2B5EF4-FFF2-40B4-BE49-F238E27FC236}">
                <a16:creationId xmlns:a16="http://schemas.microsoft.com/office/drawing/2014/main" id="{AC289D71-2C6C-D5FE-1DB5-91CCBD35BA08}"/>
              </a:ext>
            </a:extLst>
          </p:cNvPr>
          <p:cNvSpPr/>
          <p:nvPr/>
        </p:nvSpPr>
        <p:spPr>
          <a:xfrm>
            <a:off x="983132" y="5287275"/>
            <a:ext cx="5164423" cy="3153210"/>
          </a:xfrm>
          <a:prstGeom prst="roundRect">
            <a:avLst/>
          </a:prstGeom>
          <a:solidFill>
            <a:srgbClr val="FFFFFF"/>
          </a:solidFill>
          <a:ln>
            <a:solidFill>
              <a:srgbClr val="E4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6" name="Rounded Rectangle 23">
            <a:extLst>
              <a:ext uri="{FF2B5EF4-FFF2-40B4-BE49-F238E27FC236}">
                <a16:creationId xmlns:a16="http://schemas.microsoft.com/office/drawing/2014/main" id="{E7686931-AFC3-4177-0EEA-A2439566BB88}"/>
              </a:ext>
            </a:extLst>
          </p:cNvPr>
          <p:cNvSpPr/>
          <p:nvPr/>
        </p:nvSpPr>
        <p:spPr>
          <a:xfrm>
            <a:off x="6558054" y="5283952"/>
            <a:ext cx="5407773" cy="3194333"/>
          </a:xfrm>
          <a:prstGeom prst="roundRect">
            <a:avLst/>
          </a:prstGeom>
          <a:solidFill>
            <a:srgbClr val="FFFFFF"/>
          </a:solidFill>
          <a:ln>
            <a:solidFill>
              <a:srgbClr val="E4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28" name="Rounded Rectangle 26">
            <a:extLst>
              <a:ext uri="{FF2B5EF4-FFF2-40B4-BE49-F238E27FC236}">
                <a16:creationId xmlns:a16="http://schemas.microsoft.com/office/drawing/2014/main" id="{EC99D4BD-F5AE-4C6E-1D4B-5BAD0CC5BE09}"/>
              </a:ext>
            </a:extLst>
          </p:cNvPr>
          <p:cNvSpPr/>
          <p:nvPr/>
        </p:nvSpPr>
        <p:spPr>
          <a:xfrm>
            <a:off x="12207854" y="5297533"/>
            <a:ext cx="5164423" cy="3194332"/>
          </a:xfrm>
          <a:prstGeom prst="roundRect">
            <a:avLst/>
          </a:prstGeom>
          <a:solidFill>
            <a:schemeClr val="bg1"/>
          </a:solidFill>
          <a:ln>
            <a:solidFill>
              <a:srgbClr val="121F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1338DA-219B-7230-1902-40F34F5712B5}"/>
              </a:ext>
            </a:extLst>
          </p:cNvPr>
          <p:cNvSpPr txBox="1"/>
          <p:nvPr/>
        </p:nvSpPr>
        <p:spPr>
          <a:xfrm>
            <a:off x="12579350" y="6003410"/>
            <a:ext cx="4488451" cy="1477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문제의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반복성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인력·시간·안전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비용의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정량화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기존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대안의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명확한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한계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실제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도입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의향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+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구매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주체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확인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자율충전의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차별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가치</a:t>
            </a:r>
            <a:r>
              <a:rPr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dirty="0" err="1">
                <a:solidFill>
                  <a:schemeClr val="tx1"/>
                </a:solidFill>
                <a:latin typeface="+mn-ea"/>
                <a:ea typeface="+mn-ea"/>
              </a:rPr>
              <a:t>검증</a:t>
            </a:r>
            <a:endParaRPr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380446-BAEA-F54F-0798-F2B08D168085}"/>
              </a:ext>
            </a:extLst>
          </p:cNvPr>
          <p:cNvSpPr txBox="1"/>
          <p:nvPr/>
        </p:nvSpPr>
        <p:spPr>
          <a:xfrm>
            <a:off x="1295213" y="2157157"/>
            <a:ext cx="4691243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1순위 |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한국전력공사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26745A-1497-25D3-3388-F1978A4DDA95}"/>
              </a:ext>
            </a:extLst>
          </p:cNvPr>
          <p:cNvSpPr txBox="1"/>
          <p:nvPr/>
        </p:nvSpPr>
        <p:spPr>
          <a:xfrm>
            <a:off x="1295213" y="2554100"/>
            <a:ext cx="4691243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변전소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운영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송변전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설비진단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AI/DX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안전</a:t>
            </a:r>
            <a:endParaRPr sz="16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F681E4-0E07-4879-E4B2-0C032B340C39}"/>
              </a:ext>
            </a:extLst>
          </p:cNvPr>
          <p:cNvSpPr txBox="1"/>
          <p:nvPr/>
        </p:nvSpPr>
        <p:spPr>
          <a:xfrm>
            <a:off x="1246792" y="3283131"/>
            <a:ext cx="4691243" cy="1477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검증할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문제</a:t>
            </a:r>
            <a:endParaRPr lang="en-US" b="0" dirty="0">
              <a:solidFill>
                <a:schemeClr val="tx1"/>
              </a:solidFill>
              <a:latin typeface="+mn-ea"/>
              <a:ea typeface="+mn-ea"/>
            </a:endParaRPr>
          </a:p>
          <a:p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•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 반복 순찰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/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점검의 인력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·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시간
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•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CCTV·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센서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·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유인순찰의 사각지대
</a:t>
            </a:r>
            <a:r>
              <a:rPr lang="en-US" altLang="ko-KR" b="0" dirty="0">
                <a:solidFill>
                  <a:schemeClr val="tx1"/>
                </a:solidFill>
                <a:latin typeface="+mn-ea"/>
                <a:ea typeface="+mn-ea"/>
              </a:rPr>
              <a:t>•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lang="ko-KR" altLang="en-US" b="0" dirty="0" err="1">
                <a:solidFill>
                  <a:schemeClr val="tx1"/>
                </a:solidFill>
                <a:latin typeface="+mn-ea"/>
                <a:ea typeface="+mn-ea"/>
              </a:rPr>
              <a:t>드론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 자동화의 실제 도입 가치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BB83A73-22BF-CFA2-5D03-6B77CB240DEE}"/>
              </a:ext>
            </a:extLst>
          </p:cNvPr>
          <p:cNvSpPr txBox="1"/>
          <p:nvPr/>
        </p:nvSpPr>
        <p:spPr>
          <a:xfrm>
            <a:off x="6946336" y="2219744"/>
            <a:ext cx="4691243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2순위 |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발전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공기업·민간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발전사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E2DD81-F838-6E51-96C5-F39A8E5378B9}"/>
              </a:ext>
            </a:extLst>
          </p:cNvPr>
          <p:cNvSpPr txBox="1"/>
          <p:nvPr/>
        </p:nvSpPr>
        <p:spPr>
          <a:xfrm>
            <a:off x="6946336" y="2562582"/>
            <a:ext cx="4691243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발전소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변전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/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수전설비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O&amp;M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안전</a:t>
            </a:r>
            <a:endParaRPr sz="16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48F9F03-F532-447C-7F2A-9DC54752D665}"/>
              </a:ext>
            </a:extLst>
          </p:cNvPr>
          <p:cNvSpPr txBox="1"/>
          <p:nvPr/>
        </p:nvSpPr>
        <p:spPr>
          <a:xfrm>
            <a:off x="6948330" y="3283131"/>
            <a:ext cx="4691243" cy="1477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검증할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문제</a:t>
            </a:r>
            <a:endParaRPr lang="en-US" b="0" dirty="0">
              <a:solidFill>
                <a:schemeClr val="tx1"/>
              </a:solidFill>
              <a:latin typeface="+mn-ea"/>
              <a:ea typeface="+mn-ea"/>
            </a:endParaRPr>
          </a:p>
          <a:p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설비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이상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조기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탐지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야간·위험구역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자동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순찰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기존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드론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/Dock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운영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경험</a:t>
            </a:r>
            <a:endParaRPr b="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48" name="Rounded Rectangle 15">
            <a:extLst>
              <a:ext uri="{FF2B5EF4-FFF2-40B4-BE49-F238E27FC236}">
                <a16:creationId xmlns:a16="http://schemas.microsoft.com/office/drawing/2014/main" id="{F0EE432E-32CB-221A-FC23-9BED5BABAA7C}"/>
              </a:ext>
            </a:extLst>
          </p:cNvPr>
          <p:cNvSpPr/>
          <p:nvPr/>
        </p:nvSpPr>
        <p:spPr>
          <a:xfrm>
            <a:off x="12184532" y="1822889"/>
            <a:ext cx="5164423" cy="3171855"/>
          </a:xfrm>
          <a:prstGeom prst="roundRect">
            <a:avLst/>
          </a:prstGeom>
          <a:solidFill>
            <a:srgbClr val="FFFFFF"/>
          </a:solidFill>
          <a:ln>
            <a:solidFill>
              <a:srgbClr val="E4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151391-314D-09A4-4BA3-CCC32BC62FDB}"/>
              </a:ext>
            </a:extLst>
          </p:cNvPr>
          <p:cNvSpPr txBox="1"/>
          <p:nvPr/>
        </p:nvSpPr>
        <p:spPr>
          <a:xfrm>
            <a:off x="12502238" y="2157157"/>
            <a:ext cx="4691243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3순위 |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대형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산업체·데이터센터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E01508-EC12-AEB2-0F10-154447A4FC2D}"/>
              </a:ext>
            </a:extLst>
          </p:cNvPr>
          <p:cNvSpPr txBox="1"/>
          <p:nvPr/>
        </p:nvSpPr>
        <p:spPr>
          <a:xfrm>
            <a:off x="12502238" y="2521502"/>
            <a:ext cx="4691243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시설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/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전력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보안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</a:t>
            </a:r>
            <a:r>
              <a:rPr sz="1600" b="1" dirty="0" err="1">
                <a:solidFill>
                  <a:schemeClr val="tx1"/>
                </a:solidFill>
                <a:latin typeface="+mj-ea"/>
                <a:ea typeface="+mj-ea"/>
              </a:rPr>
              <a:t>안전</a:t>
            </a:r>
            <a:r>
              <a:rPr sz="1600" b="1" dirty="0">
                <a:solidFill>
                  <a:schemeClr val="tx1"/>
                </a:solidFill>
                <a:latin typeface="+mj-ea"/>
                <a:ea typeface="+mj-ea"/>
              </a:rPr>
              <a:t> · DX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1FD1DD-6372-CCF6-36EF-B436D2AB2B41}"/>
              </a:ext>
            </a:extLst>
          </p:cNvPr>
          <p:cNvSpPr txBox="1"/>
          <p:nvPr/>
        </p:nvSpPr>
        <p:spPr>
          <a:xfrm>
            <a:off x="12590698" y="3283131"/>
            <a:ext cx="4691243" cy="1477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검증할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문제</a:t>
            </a:r>
            <a:endParaRPr lang="en-US" b="0" dirty="0">
              <a:solidFill>
                <a:schemeClr val="tx1"/>
              </a:solidFill>
              <a:latin typeface="+mn-ea"/>
              <a:ea typeface="+mn-ea"/>
            </a:endParaRPr>
          </a:p>
          <a:p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자가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변전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/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수전설비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보유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여부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전력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안정성·보안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Pain Point
•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전력설비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자율점검으로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시장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확장</a:t>
            </a:r>
            <a:endParaRPr b="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41F486-173C-269A-62C7-A3D7ADD04E4D}"/>
              </a:ext>
            </a:extLst>
          </p:cNvPr>
          <p:cNvSpPr txBox="1"/>
          <p:nvPr/>
        </p:nvSpPr>
        <p:spPr>
          <a:xfrm>
            <a:off x="1246792" y="5372033"/>
            <a:ext cx="452900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실증·규제·파트너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후보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99732BD-C8D5-8373-5D34-1C3A5D5DB092}"/>
              </a:ext>
            </a:extLst>
          </p:cNvPr>
          <p:cNvSpPr txBox="1"/>
          <p:nvPr/>
        </p:nvSpPr>
        <p:spPr>
          <a:xfrm>
            <a:off x="1079673" y="6003410"/>
            <a:ext cx="5122322" cy="123110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정부·공공기관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→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실증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/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정책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/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조달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/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규제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시설관리·드론·AI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기업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→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관제·CCTV·AI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연동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전력설비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O&amp;M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기업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→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현장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운영·유지보수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직접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구매자와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실증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/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파트너를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구분</a:t>
            </a:r>
            <a:endParaRPr sz="2000" b="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7D5408-35D2-7807-0F7B-8826F757671D}"/>
              </a:ext>
            </a:extLst>
          </p:cNvPr>
          <p:cNvSpPr txBox="1"/>
          <p:nvPr/>
        </p:nvSpPr>
        <p:spPr>
          <a:xfrm>
            <a:off x="6828656" y="5371043"/>
            <a:ext cx="4799398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인터뷰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질문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예시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2E5A5A7-FC83-8395-696E-A3312FCC60F0}"/>
              </a:ext>
            </a:extLst>
          </p:cNvPr>
          <p:cNvSpPr txBox="1"/>
          <p:nvPr/>
        </p:nvSpPr>
        <p:spPr>
          <a:xfrm>
            <a:off x="6653424" y="6003410"/>
            <a:ext cx="5274303" cy="17543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순찰은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누가·얼마나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자주·몇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시간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하는가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</a:t>
            </a:r>
            <a:endParaRPr lang="en-US" b="0" dirty="0">
              <a:solidFill>
                <a:schemeClr val="tx1"/>
              </a:solidFill>
              <a:latin typeface="+mn-ea"/>
              <a:ea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사람이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직접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확인해야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하는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이상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상황은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
CCTV/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센서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/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기존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드론으로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왜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충분하지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않은가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배터리·충전·비행시간이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실제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병목인가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안전·규제·관제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연</a:t>
            </a:r>
            <a:r>
              <a:rPr lang="ko-KR" altLang="en-US" b="0" dirty="0">
                <a:solidFill>
                  <a:schemeClr val="tx1"/>
                </a:solidFill>
                <a:latin typeface="+mn-ea"/>
                <a:ea typeface="+mn-ea"/>
              </a:rPr>
              <a:t>동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의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도입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장벽은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
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누가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예산을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결정하고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구매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근거는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chemeClr val="tx1"/>
                </a:solidFill>
                <a:latin typeface="+mn-ea"/>
                <a:ea typeface="+mn-ea"/>
              </a:rPr>
              <a:t>무엇인가</a:t>
            </a:r>
            <a:r>
              <a:rPr b="0" dirty="0">
                <a:solidFill>
                  <a:schemeClr val="tx1"/>
                </a:solidFill>
                <a:latin typeface="+mn-ea"/>
                <a:ea typeface="+mn-ea"/>
              </a:rPr>
              <a:t>?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4CB6742-574A-BED9-3A70-B29E30E85851}"/>
              </a:ext>
            </a:extLst>
          </p:cNvPr>
          <p:cNvSpPr txBox="1"/>
          <p:nvPr/>
        </p:nvSpPr>
        <p:spPr>
          <a:xfrm>
            <a:off x="12502238" y="5371043"/>
            <a:ext cx="452900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수요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검증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성공</a:t>
            </a:r>
            <a:r>
              <a:rPr sz="2000" b="1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chemeClr val="tx1"/>
                </a:solidFill>
                <a:latin typeface="+mj-ea"/>
                <a:ea typeface="+mj-ea"/>
              </a:rPr>
              <a:t>조건</a:t>
            </a:r>
            <a:endParaRPr sz="20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987F375B-1DA5-4261-BF64-A71A19C60B45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85789507-04C2-36F8-CAB9-76EA69DBB282}"/>
              </a:ext>
            </a:extLst>
          </p:cNvPr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타겟 사용자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906292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4">
            <a:extLst>
              <a:ext uri="{FF2B5EF4-FFF2-40B4-BE49-F238E27FC236}">
                <a16:creationId xmlns:a16="http://schemas.microsoft.com/office/drawing/2014/main" id="{B60692C6-28EF-C530-B0FB-79E046F9049E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7" name="object 12">
            <a:extLst>
              <a:ext uri="{FF2B5EF4-FFF2-40B4-BE49-F238E27FC236}">
                <a16:creationId xmlns:a16="http://schemas.microsoft.com/office/drawing/2014/main" id="{55247B4D-94A6-7E19-86FD-25D46DC7207C}"/>
              </a:ext>
            </a:extLst>
          </p:cNvPr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서비스 개요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60120" y="2057400"/>
            <a:ext cx="361188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07592" y="2368296"/>
            <a:ext cx="603504" cy="603504"/>
          </a:xfrm>
          <a:prstGeom prst="ellipse">
            <a:avLst/>
          </a:prstGeom>
          <a:solidFill>
            <a:srgbClr val="4F7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07592" y="2487168"/>
            <a:ext cx="603504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dirty="0">
                <a:solidFill>
                  <a:srgbClr val="FFFFFF"/>
                </a:solidFill>
                <a:latin typeface="+mj-ea"/>
                <a:ea typeface="+mj-e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459736"/>
            <a:ext cx="2194560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경비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AI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드론</a:t>
            </a:r>
            <a:endParaRPr sz="24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325880" y="3227832"/>
            <a:ext cx="2880360" cy="18288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44168" y="3474720"/>
            <a:ext cx="3075432" cy="1388265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카메라·AI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탑재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자율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비행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부지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전역을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이동하며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감시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유도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충전으로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연속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운용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212080" y="2057400"/>
            <a:ext cx="361188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559552" y="2368296"/>
            <a:ext cx="603504" cy="603504"/>
          </a:xfrm>
          <a:prstGeom prst="ellipse">
            <a:avLst/>
          </a:prstGeom>
          <a:solidFill>
            <a:srgbClr val="649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59552" y="2487168"/>
            <a:ext cx="603504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dirty="0">
                <a:solidFill>
                  <a:srgbClr val="FFFFFF"/>
                </a:solidFill>
                <a:latin typeface="+mj-ea"/>
                <a:ea typeface="+mj-e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459736"/>
            <a:ext cx="2194560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24시간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감시</a:t>
            </a:r>
            <a:endParaRPr sz="24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577840" y="3227832"/>
            <a:ext cx="2880360" cy="18288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96128" y="3474720"/>
            <a:ext cx="2834640" cy="1388265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사람·차량·설비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구분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인식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야간은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열화상으로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감시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이상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징후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실시간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판단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464040" y="2057400"/>
            <a:ext cx="361188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811512" y="2368296"/>
            <a:ext cx="603504" cy="603504"/>
          </a:xfrm>
          <a:prstGeom prst="ellipse">
            <a:avLst/>
          </a:prstGeom>
          <a:solidFill>
            <a:srgbClr val="678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811512" y="2487168"/>
            <a:ext cx="603504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dirty="0">
                <a:solidFill>
                  <a:srgbClr val="FFFFFF"/>
                </a:solidFill>
                <a:latin typeface="+mj-ea"/>
                <a:ea typeface="+mj-e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1319" y="2459736"/>
            <a:ext cx="2194560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능동적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경비</a:t>
            </a:r>
            <a:endParaRPr sz="24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9829800" y="3227832"/>
            <a:ext cx="2880360" cy="18288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48088" y="3474720"/>
            <a:ext cx="2834640" cy="1388265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이상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지점으로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즉시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이동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현장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영상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선제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확보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오탐·실제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상황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구분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3716000" y="2057400"/>
            <a:ext cx="361188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4063472" y="2368296"/>
            <a:ext cx="603504" cy="603504"/>
          </a:xfrm>
          <a:prstGeom prst="ellipse">
            <a:avLst/>
          </a:prstGeom>
          <a:solidFill>
            <a:srgbClr val="4F7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4063472" y="2487168"/>
            <a:ext cx="603504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dirty="0">
                <a:solidFill>
                  <a:srgbClr val="FFFFFF"/>
                </a:solidFill>
                <a:latin typeface="+mj-ea"/>
                <a:ea typeface="+mj-ea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0" y="2459736"/>
            <a:ext cx="2194560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업무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강도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개선</a:t>
            </a:r>
            <a:endParaRPr sz="24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4081760" y="3227832"/>
            <a:ext cx="2880360" cy="18288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4100048" y="3474720"/>
            <a:ext cx="2834640" cy="1388265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반복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순찰은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드론이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수행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인력은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판단·대응에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집중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• 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야간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순찰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부담</a:t>
            </a:r>
            <a:r>
              <a:rPr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b="0" dirty="0" err="1">
                <a:solidFill>
                  <a:srgbClr val="262626"/>
                </a:solidFill>
                <a:latin typeface="+mn-ea"/>
                <a:ea typeface="+mn-ea"/>
              </a:rPr>
              <a:t>감소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960120" y="5440680"/>
            <a:ext cx="1737360" cy="512064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5840" y="5532120"/>
            <a:ext cx="1645920" cy="307777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운영</a:t>
            </a:r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흐름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926080" y="5440680"/>
            <a:ext cx="14173200" cy="512064"/>
          </a:xfrm>
          <a:prstGeom prst="roundRect">
            <a:avLst/>
          </a:prstGeom>
          <a:solidFill>
            <a:srgbClr val="FFF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154680" y="5550408"/>
            <a:ext cx="13807440" cy="276999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자율</a:t>
            </a:r>
            <a:r>
              <a:rPr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순찰</a:t>
            </a:r>
            <a:r>
              <a:rPr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비행</a:t>
            </a:r>
            <a:r>
              <a:rPr b="1" dirty="0">
                <a:solidFill>
                  <a:srgbClr val="4F708B"/>
                </a:solidFill>
                <a:latin typeface="+mn-ea"/>
                <a:ea typeface="+mn-ea"/>
              </a:rPr>
              <a:t>   →   </a:t>
            </a: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객체</a:t>
            </a:r>
            <a:r>
              <a:rPr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인식·이상</a:t>
            </a:r>
            <a:r>
              <a:rPr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탐지</a:t>
            </a:r>
            <a:r>
              <a:rPr b="1" dirty="0">
                <a:solidFill>
                  <a:srgbClr val="4F708B"/>
                </a:solidFill>
                <a:latin typeface="+mn-ea"/>
                <a:ea typeface="+mn-ea"/>
              </a:rPr>
              <a:t>   →   </a:t>
            </a: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현장</a:t>
            </a:r>
            <a:r>
              <a:rPr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확인·관제</a:t>
            </a:r>
            <a:r>
              <a:rPr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보고</a:t>
            </a:r>
            <a:r>
              <a:rPr b="1" dirty="0">
                <a:solidFill>
                  <a:srgbClr val="4F708B"/>
                </a:solidFill>
                <a:latin typeface="+mn-ea"/>
                <a:ea typeface="+mn-ea"/>
              </a:rPr>
              <a:t>   →   </a:t>
            </a: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송전선</a:t>
            </a:r>
            <a:r>
              <a:rPr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유도</a:t>
            </a:r>
            <a:r>
              <a:rPr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  <a:ea typeface="+mn-ea"/>
              </a:rPr>
              <a:t>충전·재비행</a:t>
            </a:r>
            <a:endParaRPr b="1" dirty="0">
              <a:solidFill>
                <a:srgbClr val="4F708B"/>
              </a:solidFill>
              <a:latin typeface="+mn-ea"/>
              <a:ea typeface="+mn-ea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960120" y="6172200"/>
            <a:ext cx="16139159" cy="1463040"/>
          </a:xfrm>
          <a:prstGeom prst="roundRect">
            <a:avLst/>
          </a:prstGeom>
          <a:solidFill>
            <a:srgbClr val="FAFAFA"/>
          </a:solidFill>
          <a:ln w="952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325880" y="6464807"/>
            <a:ext cx="1737360" cy="369332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연구</a:t>
            </a:r>
            <a:r>
              <a:rPr sz="24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400" b="1" dirty="0" err="1">
                <a:solidFill>
                  <a:srgbClr val="4F708B"/>
                </a:solidFill>
                <a:latin typeface="+mj-ea"/>
                <a:ea typeface="+mj-ea"/>
              </a:rPr>
              <a:t>사례</a:t>
            </a:r>
            <a:r>
              <a:rPr lang="en-US" sz="2400" b="1" dirty="0">
                <a:solidFill>
                  <a:srgbClr val="4F708B"/>
                </a:solidFill>
                <a:latin typeface="+mj-ea"/>
                <a:ea typeface="+mj-ea"/>
              </a:rPr>
              <a:t> :</a:t>
            </a:r>
            <a:endParaRPr sz="24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154680" y="6446520"/>
            <a:ext cx="13807440" cy="704937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덴마크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남부대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(SDU)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연구진은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드론이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송전선에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착륙해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분할형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변류기로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전선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자기장에서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전력을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수확하며</a:t>
            </a:r>
            <a:endParaRPr sz="1600" b="0" dirty="0">
              <a:solidFill>
                <a:srgbClr val="262626"/>
              </a:solidFill>
              <a:latin typeface="+mn-ea"/>
              <a:ea typeface="+mn-ea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배터리를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충전하는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시스템을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실증했다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.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실제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3상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송전선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환경에서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비행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–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착륙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–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충전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–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이륙을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반복해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수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시간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무중단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자율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운용에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  <a:ea typeface="+mn-ea"/>
              </a:rPr>
              <a:t>성공했다</a:t>
            </a:r>
            <a:r>
              <a:rPr sz="1600" b="0" dirty="0">
                <a:solidFill>
                  <a:srgbClr val="262626"/>
                </a:solidFill>
                <a:latin typeface="+mn-ea"/>
                <a:ea typeface="+mn-ea"/>
              </a:rPr>
              <a:t>.</a:t>
            </a:r>
            <a:endParaRPr b="0" dirty="0">
              <a:solidFill>
                <a:srgbClr val="262626"/>
              </a:solidFill>
              <a:latin typeface="+mn-ea"/>
              <a:ea typeface="+mn-ea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154680" y="7251192"/>
            <a:ext cx="13624560" cy="153888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dirty="0" err="1">
                <a:solidFill>
                  <a:srgbClr val="787878"/>
                </a:solidFill>
                <a:latin typeface="Malgun Gothic"/>
              </a:rPr>
              <a:t>출처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: Hoang et al., Autonomous Overhead Powerline Recharging for Uninterrupted Drone Operations, IEEE ICRA 2024 (arXiv:2403.06533)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" y="7909560"/>
            <a:ext cx="16139159" cy="402336"/>
          </a:xfrm>
          <a:prstGeom prst="roundRect">
            <a:avLst/>
          </a:prstGeom>
          <a:solidFill>
            <a:srgbClr val="FFF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234440" y="7955280"/>
            <a:ext cx="15636240" cy="246221"/>
          </a:xfrm>
          <a:prstGeom prst="rect">
            <a:avLst/>
          </a:prstGeom>
          <a:noFill/>
        </p:spPr>
        <p:txBody>
          <a:bodyPr wrap="square" lIns="27432" tIns="0" rIns="27432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핵심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 | 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카메라와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AI를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실은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드론이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스스로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순찰하고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전선에서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스스로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충전해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, 24시간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능동적인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경비를</a:t>
            </a:r>
            <a:r>
              <a:rPr sz="1600" b="1" dirty="0">
                <a:solidFill>
                  <a:srgbClr val="4F708B"/>
                </a:solidFill>
                <a:latin typeface="+mn-ea"/>
                <a:ea typeface="+mn-ea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+mn-ea"/>
                <a:ea typeface="+mn-ea"/>
              </a:rPr>
              <a:t>유지한다</a:t>
            </a:r>
            <a:endParaRPr sz="1600" b="1" dirty="0">
              <a:solidFill>
                <a:srgbClr val="4F708B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2" descr="image.png">
            <a:extLst>
              <a:ext uri="{FF2B5EF4-FFF2-40B4-BE49-F238E27FC236}">
                <a16:creationId xmlns:a16="http://schemas.microsoft.com/office/drawing/2014/main" id="{5BDAB6FB-A295-795E-24D5-96557472B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21477"/>
            <a:ext cx="8681767" cy="3633788"/>
          </a:xfrm>
          <a:prstGeom prst="rect">
            <a:avLst/>
          </a:prstGeom>
        </p:spPr>
      </p:pic>
      <p:sp>
        <p:nvSpPr>
          <p:cNvPr id="80" name="Rectangle 11">
            <a:extLst>
              <a:ext uri="{FF2B5EF4-FFF2-40B4-BE49-F238E27FC236}">
                <a16:creationId xmlns:a16="http://schemas.microsoft.com/office/drawing/2014/main" id="{B1AD251A-2014-2095-E61F-E715C1DCDC55}"/>
              </a:ext>
            </a:extLst>
          </p:cNvPr>
          <p:cNvSpPr/>
          <p:nvPr/>
        </p:nvSpPr>
        <p:spPr>
          <a:xfrm>
            <a:off x="542925" y="3246618"/>
            <a:ext cx="8651500" cy="605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1" name="Picture 16" descr="image.png">
            <a:extLst>
              <a:ext uri="{FF2B5EF4-FFF2-40B4-BE49-F238E27FC236}">
                <a16:creationId xmlns:a16="http://schemas.microsoft.com/office/drawing/2014/main" id="{C659DE51-420D-82A9-7FB3-393D5BA42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250" y="2325425"/>
            <a:ext cx="1678881" cy="287376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554B50F-2B33-F425-5667-0CC9D0C647E8}"/>
              </a:ext>
            </a:extLst>
          </p:cNvPr>
          <p:cNvSpPr txBox="1"/>
          <p:nvPr/>
        </p:nvSpPr>
        <p:spPr>
          <a:xfrm>
            <a:off x="923937" y="2966456"/>
            <a:ext cx="7683512" cy="205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Real-time Detection: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YOLOv10 / RT-DETR (Edge NPU 30+ FPS, FP16/INT8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양자화</a:t>
            </a:r>
            <a:endParaRPr sz="1600" b="0" i="0" u="none" dirty="0">
              <a:solidFill>
                <a:srgbClr val="334155"/>
              </a:solidFill>
              <a:latin typeface="+mj-ea"/>
              <a:ea typeface="+mj-ea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55A7B13-938E-0113-DFF3-35111D15387A}"/>
              </a:ext>
            </a:extLst>
          </p:cNvPr>
          <p:cNvSpPr txBox="1"/>
          <p:nvPr/>
        </p:nvSpPr>
        <p:spPr>
          <a:xfrm>
            <a:off x="923925" y="3531924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탐지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대상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작업자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외부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침입자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차량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울타리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파손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전력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설비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아크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화재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652F9C0-7EA0-9E6D-D516-A2A0558CA014}"/>
              </a:ext>
            </a:extLst>
          </p:cNvPr>
          <p:cNvSpPr txBox="1"/>
          <p:nvPr/>
        </p:nvSpPr>
        <p:spPr>
          <a:xfrm>
            <a:off x="923925" y="4004850"/>
            <a:ext cx="7683524" cy="208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lang="ko-KR" altLang="en-US" sz="1600" b="1" i="0" u="none" dirty="0">
                <a:solidFill>
                  <a:srgbClr val="0F172A"/>
                </a:solidFill>
                <a:latin typeface="+mn-ea"/>
                <a:ea typeface="+mn-ea"/>
              </a:rPr>
              <a:t>센서 융합 </a:t>
            </a:r>
            <a:r>
              <a:rPr lang="en-US" altLang="ko-KR" sz="1600" b="1" i="0" u="none" dirty="0">
                <a:solidFill>
                  <a:srgbClr val="0F172A"/>
                </a:solidFill>
                <a:latin typeface="+mn-ea"/>
                <a:ea typeface="+mn-ea"/>
              </a:rPr>
              <a:t>(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RGB + Thermal Fusion</a:t>
            </a:r>
            <a:r>
              <a:rPr lang="en-US" altLang="ko-KR" sz="1600" b="1" i="0" u="none" dirty="0">
                <a:solidFill>
                  <a:srgbClr val="0F172A"/>
                </a:solidFill>
                <a:latin typeface="+mn-ea"/>
                <a:ea typeface="+mn-ea"/>
              </a:rPr>
              <a:t>)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열화상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-Vision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융합으로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달성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85" name="Picture 32" descr="image.png">
            <a:extLst>
              <a:ext uri="{FF2B5EF4-FFF2-40B4-BE49-F238E27FC236}">
                <a16:creationId xmlns:a16="http://schemas.microsoft.com/office/drawing/2014/main" id="{FFBDD92A-F3D6-9C0D-1A50-E1073CB101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4" y="2340551"/>
            <a:ext cx="544501" cy="544501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4ACA6618-5049-B908-78F5-3252363BDEFB}"/>
              </a:ext>
            </a:extLst>
          </p:cNvPr>
          <p:cNvSpPr txBox="1"/>
          <p:nvPr/>
        </p:nvSpPr>
        <p:spPr>
          <a:xfrm>
            <a:off x="1444117" y="2475982"/>
            <a:ext cx="358384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+mj-ea"/>
                <a:ea typeface="+mj-ea"/>
              </a:rPr>
              <a:t>1. </a:t>
            </a:r>
            <a:r>
              <a:rPr lang="ko-Kore-KR" altLang="ko-Kore-KR" sz="2000" b="1" dirty="0">
                <a:latin typeface="+mj-ea"/>
                <a:ea typeface="+mj-ea"/>
              </a:rPr>
              <a:t>비전 및 센서 융합 인식 모듈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9A98BE-5798-9AAD-711B-33A4B6C9BA08}"/>
              </a:ext>
            </a:extLst>
          </p:cNvPr>
          <p:cNvSpPr txBox="1"/>
          <p:nvPr/>
        </p:nvSpPr>
        <p:spPr>
          <a:xfrm>
            <a:off x="771537" y="3014082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284C7"/>
                </a:solidFill>
                <a:latin typeface="Pretendard"/>
              </a:rPr>
              <a:t>■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ACC5DF5-ABA8-1FB5-4BE1-33CFCB7287E1}"/>
              </a:ext>
            </a:extLst>
          </p:cNvPr>
          <p:cNvSpPr txBox="1"/>
          <p:nvPr/>
        </p:nvSpPr>
        <p:spPr>
          <a:xfrm>
            <a:off x="771525" y="3579549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0284C7"/>
                </a:solidFill>
                <a:latin typeface="Pretendard"/>
              </a:rPr>
              <a:t>■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160DF80-D2E9-716F-DB4A-BF55F73A746B}"/>
              </a:ext>
            </a:extLst>
          </p:cNvPr>
          <p:cNvSpPr txBox="1"/>
          <p:nvPr/>
        </p:nvSpPr>
        <p:spPr>
          <a:xfrm>
            <a:off x="771525" y="4052475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284C7"/>
                </a:solidFill>
                <a:latin typeface="Pretendard"/>
              </a:rPr>
              <a:t>■</a:t>
            </a:r>
          </a:p>
        </p:txBody>
      </p:sp>
      <p:pic>
        <p:nvPicPr>
          <p:cNvPr id="90" name="Picture 37" descr="image.png">
            <a:extLst>
              <a:ext uri="{FF2B5EF4-FFF2-40B4-BE49-F238E27FC236}">
                <a16:creationId xmlns:a16="http://schemas.microsoft.com/office/drawing/2014/main" id="{7D09D640-9DA5-4B4C-FE82-5AE8A0D0D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4200" y="3944087"/>
            <a:ext cx="1799882" cy="272251"/>
          </a:xfrm>
          <a:prstGeom prst="rect">
            <a:avLst/>
          </a:prstGeom>
        </p:spPr>
      </p:pic>
      <p:pic>
        <p:nvPicPr>
          <p:cNvPr id="91" name="Picture 55" descr="image.png">
            <a:extLst>
              <a:ext uri="{FF2B5EF4-FFF2-40B4-BE49-F238E27FC236}">
                <a16:creationId xmlns:a16="http://schemas.microsoft.com/office/drawing/2014/main" id="{7DB640A6-19D0-CBB2-2895-68D9E13A8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114" y="2491801"/>
            <a:ext cx="272250" cy="242000"/>
          </a:xfrm>
          <a:prstGeom prst="rect">
            <a:avLst/>
          </a:prstGeom>
        </p:spPr>
      </p:pic>
      <p:pic>
        <p:nvPicPr>
          <p:cNvPr id="92" name="Picture 3" descr="image.png">
            <a:extLst>
              <a:ext uri="{FF2B5EF4-FFF2-40B4-BE49-F238E27FC236}">
                <a16:creationId xmlns:a16="http://schemas.microsoft.com/office/drawing/2014/main" id="{C5D9DAE9-8A01-873E-B34F-261EC5E132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4081" y="2121477"/>
            <a:ext cx="8681767" cy="3633788"/>
          </a:xfrm>
          <a:prstGeom prst="rect">
            <a:avLst/>
          </a:prstGeom>
        </p:spPr>
      </p:pic>
      <p:sp>
        <p:nvSpPr>
          <p:cNvPr id="93" name="Rectangle 12">
            <a:extLst>
              <a:ext uri="{FF2B5EF4-FFF2-40B4-BE49-F238E27FC236}">
                <a16:creationId xmlns:a16="http://schemas.microsoft.com/office/drawing/2014/main" id="{D39AEFD4-7C2D-1A79-0A3E-CCEFC8583174}"/>
              </a:ext>
            </a:extLst>
          </p:cNvPr>
          <p:cNvSpPr/>
          <p:nvPr/>
        </p:nvSpPr>
        <p:spPr>
          <a:xfrm>
            <a:off x="9003607" y="3246618"/>
            <a:ext cx="8651500" cy="60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4" name="Picture 20" descr="image.png">
            <a:extLst>
              <a:ext uri="{FF2B5EF4-FFF2-40B4-BE49-F238E27FC236}">
                <a16:creationId xmlns:a16="http://schemas.microsoft.com/office/drawing/2014/main" id="{ADD284BC-747F-B36D-2900-A210F8817D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23343" y="2337852"/>
            <a:ext cx="2193133" cy="287376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F2C98045-68F7-5404-6F0D-081CE62C4C6A}"/>
              </a:ext>
            </a:extLst>
          </p:cNvPr>
          <p:cNvSpPr txBox="1"/>
          <p:nvPr/>
        </p:nvSpPr>
        <p:spPr>
          <a:xfrm>
            <a:off x="9384606" y="2967847"/>
            <a:ext cx="7836593" cy="205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3D Visual-LiDAR SLAM: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Solid-state LiDAR + Stereo Camera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기반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3D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점군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지도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생성</a:t>
            </a:r>
            <a:endParaRPr sz="1600" b="0" i="0" u="none" dirty="0">
              <a:solidFill>
                <a:srgbClr val="334155"/>
              </a:solidFill>
              <a:latin typeface="+mj-ea"/>
              <a:ea typeface="+mj-ea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589DAE8-908F-5E53-A48B-CC90A57277CD}"/>
              </a:ext>
            </a:extLst>
          </p:cNvPr>
          <p:cNvSpPr txBox="1"/>
          <p:nvPr/>
        </p:nvSpPr>
        <p:spPr>
          <a:xfrm>
            <a:off x="9384607" y="3483616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GPS 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음영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극복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변전소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고압선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전자기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교란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구역에서도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센서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자율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위치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추정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43D6D2B-2DED-B36E-08AF-2ACC4B5C0714}"/>
              </a:ext>
            </a:extLst>
          </p:cNvPr>
          <p:cNvSpPr txBox="1"/>
          <p:nvPr/>
        </p:nvSpPr>
        <p:spPr>
          <a:xfrm>
            <a:off x="9384607" y="3953684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정밀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도킹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 AI: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50ms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이내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실시간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경로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재설정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및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98" name="Picture 38" descr="image.png">
            <a:extLst>
              <a:ext uri="{FF2B5EF4-FFF2-40B4-BE49-F238E27FC236}">
                <a16:creationId xmlns:a16="http://schemas.microsoft.com/office/drawing/2014/main" id="{F2FA7233-511F-A74E-EBBF-4524704260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2206" y="2340551"/>
            <a:ext cx="544501" cy="544501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0A16D11F-4966-6323-60F4-CA6A0C295B9B}"/>
              </a:ext>
            </a:extLst>
          </p:cNvPr>
          <p:cNvSpPr txBox="1"/>
          <p:nvPr/>
        </p:nvSpPr>
        <p:spPr>
          <a:xfrm>
            <a:off x="9914102" y="2458912"/>
            <a:ext cx="415064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+mj-lt"/>
              </a:rPr>
              <a:t>2. </a:t>
            </a:r>
            <a:r>
              <a:rPr lang="ko-Kore-KR" altLang="ko-Kore-KR" sz="2000" b="1" dirty="0">
                <a:latin typeface="+mj-lt"/>
              </a:rPr>
              <a:t>지능형 자율비행 및 위치 추정 모듈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22FD48B-828B-C71B-6FEA-07576A67DA55}"/>
              </a:ext>
            </a:extLst>
          </p:cNvPr>
          <p:cNvSpPr txBox="1"/>
          <p:nvPr/>
        </p:nvSpPr>
        <p:spPr>
          <a:xfrm>
            <a:off x="9232207" y="3015473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D9488"/>
                </a:solidFill>
                <a:latin typeface="Pretendard"/>
              </a:rPr>
              <a:t>■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9C2A50E-0682-8976-2AF4-9D736207E8B7}"/>
              </a:ext>
            </a:extLst>
          </p:cNvPr>
          <p:cNvSpPr txBox="1"/>
          <p:nvPr/>
        </p:nvSpPr>
        <p:spPr>
          <a:xfrm>
            <a:off x="9232207" y="3531241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D9488"/>
                </a:solidFill>
                <a:latin typeface="Pretendard"/>
              </a:rPr>
              <a:t>■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66BCE9C-4741-29A8-1B3D-2E6B45FBE142}"/>
              </a:ext>
            </a:extLst>
          </p:cNvPr>
          <p:cNvSpPr txBox="1"/>
          <p:nvPr/>
        </p:nvSpPr>
        <p:spPr>
          <a:xfrm>
            <a:off x="9232207" y="4001309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0D9488"/>
                </a:solidFill>
                <a:latin typeface="Pretendard"/>
              </a:rPr>
              <a:t>■</a:t>
            </a:r>
          </a:p>
        </p:txBody>
      </p:sp>
      <p:pic>
        <p:nvPicPr>
          <p:cNvPr id="103" name="Picture 43" descr="image.png">
            <a:extLst>
              <a:ext uri="{FF2B5EF4-FFF2-40B4-BE49-F238E27FC236}">
                <a16:creationId xmlns:a16="http://schemas.microsoft.com/office/drawing/2014/main" id="{B5499F92-EDC3-198C-73A1-65B1E7A2071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716000" y="3887624"/>
            <a:ext cx="2178008" cy="272251"/>
          </a:xfrm>
          <a:prstGeom prst="rect">
            <a:avLst/>
          </a:prstGeom>
        </p:spPr>
      </p:pic>
      <p:pic>
        <p:nvPicPr>
          <p:cNvPr id="104" name="Picture 56" descr="image.png">
            <a:extLst>
              <a:ext uri="{FF2B5EF4-FFF2-40B4-BE49-F238E27FC236}">
                <a16:creationId xmlns:a16="http://schemas.microsoft.com/office/drawing/2014/main" id="{D882728E-8BE1-5AA6-DAE8-7093B5F755F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83456" y="2491801"/>
            <a:ext cx="242000" cy="242000"/>
          </a:xfrm>
          <a:prstGeom prst="rect">
            <a:avLst/>
          </a:prstGeom>
        </p:spPr>
      </p:pic>
      <p:pic>
        <p:nvPicPr>
          <p:cNvPr id="105" name="Picture 4" descr="image.png">
            <a:extLst>
              <a:ext uri="{FF2B5EF4-FFF2-40B4-BE49-F238E27FC236}">
                <a16:creationId xmlns:a16="http://schemas.microsoft.com/office/drawing/2014/main" id="{80821013-386B-3932-C001-7C1BC1A7CF7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399" y="6005512"/>
            <a:ext cx="8681767" cy="3633788"/>
          </a:xfrm>
          <a:prstGeom prst="rect">
            <a:avLst/>
          </a:prstGeom>
        </p:spPr>
      </p:pic>
      <p:sp>
        <p:nvSpPr>
          <p:cNvPr id="106" name="Rectangle 13">
            <a:extLst>
              <a:ext uri="{FF2B5EF4-FFF2-40B4-BE49-F238E27FC236}">
                <a16:creationId xmlns:a16="http://schemas.microsoft.com/office/drawing/2014/main" id="{B228F308-EB68-2DFD-B2C6-FA2E051DD2AE}"/>
              </a:ext>
            </a:extLst>
          </p:cNvPr>
          <p:cNvSpPr/>
          <p:nvPr/>
        </p:nvSpPr>
        <p:spPr>
          <a:xfrm>
            <a:off x="542925" y="7130653"/>
            <a:ext cx="8651500" cy="60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7" name="Picture 24" descr="image.png">
            <a:extLst>
              <a:ext uri="{FF2B5EF4-FFF2-40B4-BE49-F238E27FC236}">
                <a16:creationId xmlns:a16="http://schemas.microsoft.com/office/drawing/2014/main" id="{A2B50938-8251-FAE0-C703-23BB0F7DAA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04500" y="6209460"/>
            <a:ext cx="1769631" cy="287376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E93334E5-5E93-7D26-CF46-4502B6074467}"/>
              </a:ext>
            </a:extLst>
          </p:cNvPr>
          <p:cNvSpPr txBox="1"/>
          <p:nvPr/>
        </p:nvSpPr>
        <p:spPr>
          <a:xfrm>
            <a:off x="923925" y="6864338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+mj-ea"/>
                <a:ea typeface="+mj-ea"/>
              </a:rPr>
              <a:t>행동</a:t>
            </a: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j-ea"/>
                <a:ea typeface="+mj-ea"/>
              </a:rPr>
              <a:t>패턴</a:t>
            </a: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j-ea"/>
                <a:ea typeface="+mj-ea"/>
              </a:rPr>
              <a:t>분석</a:t>
            </a: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Pose Estimation (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RTMPose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) + ST-GCN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관절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추적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(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월담·배회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감지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)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0A4AAD3-B448-3108-DF69-29026033BC6C}"/>
              </a:ext>
            </a:extLst>
          </p:cNvPr>
          <p:cNvSpPr txBox="1"/>
          <p:nvPr/>
        </p:nvSpPr>
        <p:spPr>
          <a:xfrm>
            <a:off x="923925" y="7380709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Zero-Shot VLM: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Moondream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/ Florence-2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기반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안전모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및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허가구역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검증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5C2A25F-2D57-6CB5-6423-384C79493CCB}"/>
              </a:ext>
            </a:extLst>
          </p:cNvPr>
          <p:cNvSpPr txBox="1"/>
          <p:nvPr/>
        </p:nvSpPr>
        <p:spPr>
          <a:xfrm>
            <a:off x="923925" y="7894228"/>
            <a:ext cx="7683524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오경보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 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필터링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수목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흔들림·소형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동물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이동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등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111" name="Picture 44" descr="image.png">
            <a:extLst>
              <a:ext uri="{FF2B5EF4-FFF2-40B4-BE49-F238E27FC236}">
                <a16:creationId xmlns:a16="http://schemas.microsoft.com/office/drawing/2014/main" id="{320F362D-FE56-B767-8E22-AEC55528A97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1524" y="6224586"/>
            <a:ext cx="544501" cy="544501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F6F116C7-A8CC-3237-8318-4FE749A72208}"/>
              </a:ext>
            </a:extLst>
          </p:cNvPr>
          <p:cNvSpPr txBox="1"/>
          <p:nvPr/>
        </p:nvSpPr>
        <p:spPr>
          <a:xfrm>
            <a:off x="1478753" y="6337967"/>
            <a:ext cx="451028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+mj-lt"/>
              </a:rPr>
              <a:t>3. </a:t>
            </a:r>
            <a:r>
              <a:rPr lang="ko-Kore-KR" altLang="ko-Kore-KR" sz="2000" b="1" dirty="0">
                <a:latin typeface="+mj-lt"/>
              </a:rPr>
              <a:t>상황 판단 및 위협 추론 모듈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5D574E2-3F28-7B89-71F7-B7BBD29FF843}"/>
              </a:ext>
            </a:extLst>
          </p:cNvPr>
          <p:cNvSpPr txBox="1"/>
          <p:nvPr/>
        </p:nvSpPr>
        <p:spPr>
          <a:xfrm>
            <a:off x="771525" y="6911963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4F46E5"/>
                </a:solidFill>
                <a:latin typeface="Pretendard"/>
              </a:rPr>
              <a:t>■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86B97D9-7861-F7B5-37EA-D6B028DD83C5}"/>
              </a:ext>
            </a:extLst>
          </p:cNvPr>
          <p:cNvSpPr txBox="1"/>
          <p:nvPr/>
        </p:nvSpPr>
        <p:spPr>
          <a:xfrm>
            <a:off x="771525" y="7428334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4F46E5"/>
                </a:solidFill>
                <a:latin typeface="Pretendard"/>
              </a:rPr>
              <a:t>■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8830BB3F-9BAF-D3A9-5285-D8FC404C43E2}"/>
              </a:ext>
            </a:extLst>
          </p:cNvPr>
          <p:cNvSpPr txBox="1"/>
          <p:nvPr/>
        </p:nvSpPr>
        <p:spPr>
          <a:xfrm>
            <a:off x="771525" y="7941853"/>
            <a:ext cx="105875" cy="106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4F46E5"/>
                </a:solidFill>
                <a:latin typeface="Pretendard"/>
              </a:rPr>
              <a:t>■</a:t>
            </a:r>
          </a:p>
        </p:txBody>
      </p:sp>
      <p:pic>
        <p:nvPicPr>
          <p:cNvPr id="116" name="Picture 49" descr="image.png">
            <a:extLst>
              <a:ext uri="{FF2B5EF4-FFF2-40B4-BE49-F238E27FC236}">
                <a16:creationId xmlns:a16="http://schemas.microsoft.com/office/drawing/2014/main" id="{45E04DD4-1A80-8E3D-1CEB-6196E4BB347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5400" y="7822406"/>
            <a:ext cx="2480509" cy="272251"/>
          </a:xfrm>
          <a:prstGeom prst="rect">
            <a:avLst/>
          </a:prstGeom>
        </p:spPr>
      </p:pic>
      <p:pic>
        <p:nvPicPr>
          <p:cNvPr id="117" name="Picture 57" descr="image.png">
            <a:extLst>
              <a:ext uri="{FF2B5EF4-FFF2-40B4-BE49-F238E27FC236}">
                <a16:creationId xmlns:a16="http://schemas.microsoft.com/office/drawing/2014/main" id="{19A139AD-0C6E-0934-D51B-058B117F7E9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3925" y="6375327"/>
            <a:ext cx="242000" cy="242000"/>
          </a:xfrm>
          <a:prstGeom prst="rect">
            <a:avLst/>
          </a:prstGeom>
        </p:spPr>
      </p:pic>
      <p:pic>
        <p:nvPicPr>
          <p:cNvPr id="118" name="Picture 5" descr="image.png">
            <a:extLst>
              <a:ext uri="{FF2B5EF4-FFF2-40B4-BE49-F238E27FC236}">
                <a16:creationId xmlns:a16="http://schemas.microsoft.com/office/drawing/2014/main" id="{033CFD8B-F4FB-FB78-A361-B0C63228AF4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03606" y="6000314"/>
            <a:ext cx="8694183" cy="3638985"/>
          </a:xfrm>
          <a:prstGeom prst="rect">
            <a:avLst/>
          </a:prstGeom>
        </p:spPr>
      </p:pic>
      <p:sp>
        <p:nvSpPr>
          <p:cNvPr id="119" name="Rectangle 14">
            <a:extLst>
              <a:ext uri="{FF2B5EF4-FFF2-40B4-BE49-F238E27FC236}">
                <a16:creationId xmlns:a16="http://schemas.microsoft.com/office/drawing/2014/main" id="{C87ADEA2-6E18-A94F-D735-9A4E477F1743}"/>
              </a:ext>
            </a:extLst>
          </p:cNvPr>
          <p:cNvSpPr/>
          <p:nvPr/>
        </p:nvSpPr>
        <p:spPr>
          <a:xfrm>
            <a:off x="9013131" y="7125454"/>
            <a:ext cx="8663872" cy="60587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28" descr="image.png">
            <a:extLst>
              <a:ext uri="{FF2B5EF4-FFF2-40B4-BE49-F238E27FC236}">
                <a16:creationId xmlns:a16="http://schemas.microsoft.com/office/drawing/2014/main" id="{E7B8BBA7-C5F4-6D82-1653-25B93983483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994175" y="6205586"/>
            <a:ext cx="1529811" cy="287786"/>
          </a:xfrm>
          <a:prstGeom prst="rect">
            <a:avLst/>
          </a:prstGeom>
        </p:spPr>
      </p:pic>
      <p:sp>
        <p:nvSpPr>
          <p:cNvPr id="121" name="TextBox 120">
            <a:extLst>
              <a:ext uri="{FF2B5EF4-FFF2-40B4-BE49-F238E27FC236}">
                <a16:creationId xmlns:a16="http://schemas.microsoft.com/office/drawing/2014/main" id="{5E5EF54C-730F-F194-5952-EA39D5EFA616}"/>
              </a:ext>
            </a:extLst>
          </p:cNvPr>
          <p:cNvSpPr txBox="1"/>
          <p:nvPr/>
        </p:nvSpPr>
        <p:spPr>
          <a:xfrm>
            <a:off x="9394131" y="6834174"/>
            <a:ext cx="7694496" cy="207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Edge AI (</a:t>
            </a:r>
            <a:r>
              <a:rPr sz="1600" b="1" i="0" u="none" dirty="0" err="1">
                <a:solidFill>
                  <a:srgbClr val="0F172A"/>
                </a:solidFill>
                <a:latin typeface="+mj-ea"/>
                <a:ea typeface="+mj-ea"/>
              </a:rPr>
              <a:t>드론</a:t>
            </a:r>
            <a:r>
              <a:rPr sz="1600" b="1" i="0" u="none" dirty="0">
                <a:solidFill>
                  <a:srgbClr val="0F172A"/>
                </a:solidFill>
                <a:latin typeface="+mj-ea"/>
                <a:ea typeface="+mj-ea"/>
              </a:rPr>
              <a:t>):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Jetson Orin Nano /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TensorRT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INT8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적용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(</a:t>
            </a:r>
            <a:r>
              <a:rPr lang="en-US" altLang="ko-KR" sz="1600" b="0" i="0" u="none" dirty="0">
                <a:solidFill>
                  <a:srgbClr val="334155"/>
                </a:solidFill>
                <a:latin typeface="+mj-ea"/>
                <a:ea typeface="+mj-ea"/>
              </a:rPr>
              <a:t>15</a:t>
            </a:r>
            <a:r>
              <a:rPr lang="en-US" altLang="ko-KR" sz="1600" dirty="0">
                <a:solidFill>
                  <a:srgbClr val="334155"/>
                </a:solidFill>
                <a:latin typeface="+mj-ea"/>
                <a:ea typeface="+mj-ea"/>
              </a:rPr>
              <a:t>W </a:t>
            </a:r>
            <a:r>
              <a:rPr lang="ko-KR" altLang="en-US" sz="1600" dirty="0" err="1">
                <a:solidFill>
                  <a:srgbClr val="334155"/>
                </a:solidFill>
                <a:latin typeface="+mj-ea"/>
                <a:ea typeface="+mj-ea"/>
              </a:rPr>
              <a:t>초저전력</a:t>
            </a:r>
            <a:r>
              <a:rPr lang="ko-KR" altLang="en-US" sz="1600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현장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j-ea"/>
                <a:ea typeface="+mj-ea"/>
              </a:rPr>
              <a:t>감지</a:t>
            </a:r>
            <a:r>
              <a:rPr sz="1600" b="0" i="0" u="none" dirty="0">
                <a:solidFill>
                  <a:srgbClr val="334155"/>
                </a:solidFill>
                <a:latin typeface="+mj-ea"/>
                <a:ea typeface="+mj-ea"/>
              </a:rPr>
              <a:t>)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4B18A57C-5110-8509-AAF1-6476AF28021C}"/>
              </a:ext>
            </a:extLst>
          </p:cNvPr>
          <p:cNvSpPr txBox="1"/>
          <p:nvPr/>
        </p:nvSpPr>
        <p:spPr>
          <a:xfrm>
            <a:off x="9394131" y="7361709"/>
            <a:ext cx="7694496" cy="207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Cloud AI (</a:t>
            </a:r>
            <a:r>
              <a:rPr sz="1600" b="1" i="0" u="none" dirty="0" err="1">
                <a:solidFill>
                  <a:srgbClr val="0F172A"/>
                </a:solidFill>
                <a:latin typeface="+mn-ea"/>
                <a:ea typeface="+mn-ea"/>
              </a:rPr>
              <a:t>서버</a:t>
            </a: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):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VLM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맥락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추론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전사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로그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및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Active Learning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주간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자동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재학습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19FF71F-521A-D6BD-7231-F173F8727D8E}"/>
              </a:ext>
            </a:extLst>
          </p:cNvPr>
          <p:cNvSpPr txBox="1"/>
          <p:nvPr/>
        </p:nvSpPr>
        <p:spPr>
          <a:xfrm>
            <a:off x="9394131" y="7869639"/>
            <a:ext cx="7694496" cy="207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600" b="1" i="0" u="none" dirty="0">
                <a:solidFill>
                  <a:srgbClr val="0F172A"/>
                </a:solidFill>
                <a:latin typeface="+mn-ea"/>
                <a:ea typeface="+mn-ea"/>
              </a:rPr>
              <a:t>Synthetic Data: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NVIDIA Isaac Sim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기반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가상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변전소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시뮬레이션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데이터</a:t>
            </a:r>
            <a:r>
              <a:rPr sz="1600" b="0" i="0" u="none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600" b="0" i="0" u="none" dirty="0" err="1">
                <a:solidFill>
                  <a:srgbClr val="334155"/>
                </a:solidFill>
                <a:latin typeface="+mn-ea"/>
                <a:ea typeface="+mn-ea"/>
              </a:rPr>
              <a:t>융합</a:t>
            </a:r>
            <a:endParaRPr sz="1600" b="0" i="0" u="none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124" name="Picture 50" descr="image.png">
            <a:extLst>
              <a:ext uri="{FF2B5EF4-FFF2-40B4-BE49-F238E27FC236}">
                <a16:creationId xmlns:a16="http://schemas.microsoft.com/office/drawing/2014/main" id="{48EDE364-E568-085B-0D2C-60D0DC5E640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41731" y="6219389"/>
            <a:ext cx="545279" cy="545279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5DD6E578-1BBF-FAE6-ECE2-344E25D88201}"/>
              </a:ext>
            </a:extLst>
          </p:cNvPr>
          <p:cNvSpPr txBox="1"/>
          <p:nvPr/>
        </p:nvSpPr>
        <p:spPr>
          <a:xfrm>
            <a:off x="9913810" y="6332392"/>
            <a:ext cx="441179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rtl="0"/>
            <a:r>
              <a:rPr sz="2000" b="1" i="0" u="none" dirty="0">
                <a:solidFill>
                  <a:srgbClr val="0F172A"/>
                </a:solidFill>
                <a:latin typeface="+mj-lt"/>
              </a:rPr>
              <a:t>4. Edge-Cloud </a:t>
            </a:r>
            <a:r>
              <a:rPr lang="ko-Kore-KR" altLang="ko-Kore-KR" sz="2000" b="1" dirty="0">
                <a:latin typeface="+mj-lt"/>
              </a:rPr>
              <a:t>AI 파이프라인 및 MLOps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0A989AE-A578-958C-7C27-AC9331A5DF85}"/>
              </a:ext>
            </a:extLst>
          </p:cNvPr>
          <p:cNvSpPr txBox="1"/>
          <p:nvPr/>
        </p:nvSpPr>
        <p:spPr>
          <a:xfrm>
            <a:off x="9241732" y="6881800"/>
            <a:ext cx="106026" cy="10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2563EB"/>
                </a:solidFill>
                <a:latin typeface="Pretendard"/>
              </a:rPr>
              <a:t>■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5EF30A3-D144-3A65-C3ED-70A2924D1986}"/>
              </a:ext>
            </a:extLst>
          </p:cNvPr>
          <p:cNvSpPr txBox="1"/>
          <p:nvPr/>
        </p:nvSpPr>
        <p:spPr>
          <a:xfrm>
            <a:off x="9241732" y="7409335"/>
            <a:ext cx="106026" cy="10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>
                <a:solidFill>
                  <a:srgbClr val="2563EB"/>
                </a:solidFill>
                <a:latin typeface="Pretendard"/>
              </a:rPr>
              <a:t>■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7F77E5E-52C2-594E-784C-4D402D4B2B8C}"/>
              </a:ext>
            </a:extLst>
          </p:cNvPr>
          <p:cNvSpPr txBox="1"/>
          <p:nvPr/>
        </p:nvSpPr>
        <p:spPr>
          <a:xfrm>
            <a:off x="9241732" y="7917265"/>
            <a:ext cx="106026" cy="10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</a:pPr>
            <a:r>
              <a:rPr sz="600" b="0" i="0" u="none" dirty="0">
                <a:solidFill>
                  <a:srgbClr val="2563EB"/>
                </a:solidFill>
                <a:latin typeface="Pretendard"/>
              </a:rPr>
              <a:t>■</a:t>
            </a:r>
          </a:p>
        </p:txBody>
      </p:sp>
      <p:pic>
        <p:nvPicPr>
          <p:cNvPr id="129" name="Picture 58" descr="image.png">
            <a:extLst>
              <a:ext uri="{FF2B5EF4-FFF2-40B4-BE49-F238E27FC236}">
                <a16:creationId xmlns:a16="http://schemas.microsoft.com/office/drawing/2014/main" id="{5015C41E-3DEA-9EA7-05ED-81D682D2154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62903" y="6368533"/>
            <a:ext cx="302933" cy="242347"/>
          </a:xfrm>
          <a:prstGeom prst="rect">
            <a:avLst/>
          </a:prstGeom>
        </p:spPr>
      </p:pic>
      <p:sp>
        <p:nvSpPr>
          <p:cNvPr id="3" name="object 4">
            <a:extLst>
              <a:ext uri="{FF2B5EF4-FFF2-40B4-BE49-F238E27FC236}">
                <a16:creationId xmlns:a16="http://schemas.microsoft.com/office/drawing/2014/main" id="{3B897234-2DFD-D1DC-1DF4-3E04B9415D95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12">
            <a:extLst>
              <a:ext uri="{FF2B5EF4-FFF2-40B4-BE49-F238E27FC236}">
                <a16:creationId xmlns:a16="http://schemas.microsoft.com/office/drawing/2014/main" id="{2B51FA29-5434-4F19-F891-B42E79F83DD4}"/>
              </a:ext>
            </a:extLst>
          </p:cNvPr>
          <p:cNvSpPr txBox="1"/>
          <p:nvPr/>
        </p:nvSpPr>
        <p:spPr>
          <a:xfrm>
            <a:off x="6495051" y="305205"/>
            <a:ext cx="5297805" cy="58092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spcBef>
                <a:spcPts val="110"/>
              </a:spcBef>
            </a:pPr>
            <a:r>
              <a:rPr lang="ko-KR" altLang="en-US" sz="24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핵심 </a:t>
            </a:r>
            <a:r>
              <a:rPr lang="en-US" altLang="ko-KR" sz="24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AI </a:t>
            </a:r>
            <a:r>
              <a:rPr lang="ko-KR" altLang="en-US" sz="24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및 소프트웨어 모듈 구성</a:t>
            </a:r>
            <a:endParaRPr lang="en-US" altLang="ko-KR" sz="2400" b="1" i="0" u="none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</a:endParaRPr>
          </a:p>
          <a:p>
            <a:pPr marL="12700" algn="ctr">
              <a:spcBef>
                <a:spcPts val="110"/>
              </a:spcBef>
            </a:pPr>
            <a:r>
              <a:rPr lang="en-US" altLang="ko-KR" sz="12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AI </a:t>
            </a:r>
            <a:r>
              <a:rPr lang="ko-KR" altLang="en-US" sz="12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기술 적용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CE350-4164-2555-15BF-8AF0942A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2C04E642-100B-9735-EDDF-3BA821251502}"/>
              </a:ext>
            </a:extLst>
          </p:cNvPr>
          <p:cNvSpPr txBox="1"/>
          <p:nvPr/>
        </p:nvSpPr>
        <p:spPr>
          <a:xfrm>
            <a:off x="4572000" y="6489988"/>
            <a:ext cx="4182087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+mj-ea"/>
                <a:ea typeface="+mj-ea"/>
              </a:rPr>
              <a:t>변전소 자율 충전 드론 하드웨어 융합 설계</a:t>
            </a:r>
          </a:p>
        </p:txBody>
      </p:sp>
      <p:graphicFrame>
        <p:nvGraphicFramePr>
          <p:cNvPr id="29" name="Table 8">
            <a:extLst>
              <a:ext uri="{FF2B5EF4-FFF2-40B4-BE49-F238E27FC236}">
                <a16:creationId xmlns:a16="http://schemas.microsoft.com/office/drawing/2014/main" id="{F32240CD-213B-3E36-480F-EB96493DBB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390521"/>
              </p:ext>
            </p:extLst>
          </p:nvPr>
        </p:nvGraphicFramePr>
        <p:xfrm>
          <a:off x="4572000" y="1333905"/>
          <a:ext cx="9258300" cy="83581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2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95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651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구분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(Module)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채택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탑재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부품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및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성능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사양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+mj-ea"/>
                          <a:ea typeface="+mj-ea"/>
                        </a:rPr>
                        <a:t> (Hardware Specs)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메인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AI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컴퓨터</a:t>
                      </a:r>
                      <a:endParaRPr sz="2000" b="1" i="0" u="none" dirty="0">
                        <a:solidFill>
                          <a:srgbClr val="0F172A"/>
                        </a:solidFill>
                        <a:latin typeface="+mj-ea"/>
                        <a:ea typeface="+mj-ea"/>
                      </a:endParaRPr>
                    </a:p>
                  </a:txBody>
                  <a:tcPr marL="2476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NVIDIA Jetson Orin Nano / NX</a:t>
                      </a:r>
                      <a:r>
                        <a:rPr sz="1500" dirty="0"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
          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• 40~100 TOPS AI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연산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성능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/ 7~25W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초저전력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소비</a:t>
                      </a:r>
                      <a:r>
                        <a:rPr sz="1600" dirty="0">
                          <a:latin typeface="+mn-ea"/>
                          <a:ea typeface="+mn-ea"/>
                        </a:rPr>
                        <a:t>
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
          • YOLO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실시간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객체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탐지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&amp; SLAM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비행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제어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온디바이스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수행</a:t>
                      </a:r>
                      <a:endParaRPr sz="1600" b="0" i="0" u="none" dirty="0">
                        <a:solidFill>
                          <a:srgbClr val="334155"/>
                        </a:solidFill>
                        <a:latin typeface="+mn-ea"/>
                        <a:ea typeface="+mn-ea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3D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라이다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센서</a:t>
                      </a:r>
                      <a:endParaRPr sz="2000" b="1" i="0" u="none" dirty="0">
                        <a:solidFill>
                          <a:srgbClr val="0F172A"/>
                        </a:solidFill>
                        <a:latin typeface="+mj-ea"/>
                        <a:ea typeface="+mj-ea"/>
                      </a:endParaRPr>
                    </a:p>
                  </a:txBody>
                  <a:tcPr marL="1143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Livox</a:t>
                      </a:r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 Mid-360</a:t>
                      </a:r>
                      <a:r>
                        <a:rPr sz="1500" dirty="0"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
          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• 265g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초경량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설계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/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수평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360° ×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수직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59°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광각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탐지</a:t>
                      </a:r>
                      <a:r>
                        <a:rPr sz="1600" dirty="0">
                          <a:latin typeface="+mn-ea"/>
                          <a:ea typeface="+mn-ea"/>
                        </a:rPr>
                        <a:t>
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
          •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변전소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고압선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및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미세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장애물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실시간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회피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지도화</a:t>
                      </a:r>
                      <a:endParaRPr sz="1600" b="0" i="0" u="none" dirty="0">
                        <a:solidFill>
                          <a:srgbClr val="334155"/>
                        </a:solidFill>
                        <a:latin typeface="+mn-ea"/>
                        <a:ea typeface="+mn-ea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열화상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카메라</a:t>
                      </a:r>
                      <a:endParaRPr sz="2000" b="1" i="0" u="none" dirty="0">
                        <a:solidFill>
                          <a:srgbClr val="0F172A"/>
                        </a:solidFill>
                        <a:latin typeface="+mj-ea"/>
                        <a:ea typeface="+mj-ea"/>
                      </a:endParaRPr>
                    </a:p>
                  </a:txBody>
                  <a:tcPr marL="24765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Teledyne FLIR Boson 640</a:t>
                      </a:r>
                      <a:r>
                        <a:rPr sz="1500" dirty="0"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         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• 7.5g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초소형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/ 0.6W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초저전력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(640×512 LWIR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해상도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sz="1600" dirty="0">
                          <a:latin typeface="+mn-ea"/>
                          <a:ea typeface="+mn-ea"/>
                        </a:rPr>
                        <a:t>
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
          •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야간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침입자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비주얼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감지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및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전력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설비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과열·아크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감지</a:t>
                      </a:r>
                      <a:endParaRPr sz="1600" b="0" i="0" u="none" dirty="0">
                        <a:solidFill>
                          <a:srgbClr val="334155"/>
                        </a:solidFill>
                        <a:latin typeface="+mn-ea"/>
                        <a:ea typeface="+mn-ea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비행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제어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FC</a:t>
                      </a:r>
                    </a:p>
                  </a:txBody>
                  <a:tcPr marL="2762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Holybro</a:t>
                      </a:r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 Pixhawk 6X / 6C</a:t>
                      </a:r>
                      <a:r>
                        <a:rPr sz="1500" dirty="0"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
          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• PX4 /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ArduPilot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표준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지원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, 3중 Redundant IMU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탑재</a:t>
                      </a:r>
                      <a:r>
                        <a:rPr sz="1600" dirty="0">
                          <a:latin typeface="+mn-ea"/>
                          <a:ea typeface="+mn-ea"/>
                        </a:rPr>
                        <a:t>
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
          •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변전소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주변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강한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전자기장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속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높은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내간섭성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비행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유지</a:t>
                      </a:r>
                      <a:endParaRPr sz="1600" b="0" i="0" u="none" dirty="0">
                        <a:solidFill>
                          <a:srgbClr val="334155"/>
                        </a:solidFill>
                        <a:latin typeface="+mn-ea"/>
                        <a:ea typeface="+mn-ea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6707">
                <a:tc>
                  <a:txBody>
                    <a:bodyPr/>
                    <a:lstStyle/>
                    <a:p>
                      <a:pPr algn="ctr"/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유도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충전</a:t>
                      </a:r>
                      <a:r>
                        <a:rPr sz="2000" b="1" i="0" u="none" dirty="0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0F172A"/>
                          </a:solidFill>
                          <a:latin typeface="+mj-ea"/>
                          <a:ea typeface="+mj-ea"/>
                        </a:rPr>
                        <a:t>클램프</a:t>
                      </a:r>
                      <a:endParaRPr sz="2000" b="1" i="0" u="none" dirty="0">
                        <a:solidFill>
                          <a:srgbClr val="0F172A"/>
                        </a:solidFill>
                        <a:latin typeface="+mj-ea"/>
                        <a:ea typeface="+mj-ea"/>
                      </a:endParaRPr>
                    </a:p>
                  </a:txBody>
                  <a:tcPr marL="2286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C-Core CT(</a:t>
                      </a:r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변류기</a:t>
                      </a:r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) </a:t>
                      </a:r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유도</a:t>
                      </a:r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충전</a:t>
                      </a:r>
                      <a:r>
                        <a:rPr sz="1800" b="1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 </a:t>
                      </a:r>
                      <a:r>
                        <a:rPr sz="1800" b="1" i="0" u="none" dirty="0" err="1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시스템</a:t>
                      </a:r>
                      <a:r>
                        <a:rPr sz="1500" dirty="0"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j-ea"/>
                          <a:ea typeface="+mj-ea"/>
                        </a:rPr>
                        <a:t>
</a:t>
                      </a:r>
                      <a:r>
                        <a:rPr sz="15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         •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송전선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주변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자기장을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흡수하여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드론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직접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무선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충전</a:t>
                      </a:r>
                      <a:r>
                        <a:rPr sz="1600" dirty="0">
                          <a:latin typeface="+mn-ea"/>
                          <a:ea typeface="+mn-ea"/>
                        </a:rPr>
                        <a:t>
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
          •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별도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기지국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복귀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0" i="0" u="none" dirty="0" err="1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없이</a:t>
                      </a:r>
                      <a:r>
                        <a:rPr sz="1600" b="0" i="0" u="none" dirty="0">
                          <a:solidFill>
                            <a:srgbClr val="334155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1" i="0" u="none" dirty="0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24시간 </a:t>
                      </a:r>
                      <a:r>
                        <a:rPr sz="1600" b="1" i="0" u="none" dirty="0" err="1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무인</a:t>
                      </a:r>
                      <a:r>
                        <a:rPr sz="1600" b="1" i="0" u="none" dirty="0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1" i="0" u="none" dirty="0" err="1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자율</a:t>
                      </a:r>
                      <a:r>
                        <a:rPr sz="1600" b="1" i="0" u="none" dirty="0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1" i="0" u="none" dirty="0" err="1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연속</a:t>
                      </a:r>
                      <a:r>
                        <a:rPr sz="1600" b="1" i="0" u="none" dirty="0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1600" b="1" i="0" u="none" dirty="0" err="1">
                          <a:solidFill>
                            <a:srgbClr val="0284C7"/>
                          </a:solidFill>
                          <a:latin typeface="+mn-ea"/>
                          <a:ea typeface="+mn-ea"/>
                        </a:rPr>
                        <a:t>운용</a:t>
                      </a:r>
                      <a:endParaRPr sz="1600" b="1" i="0" u="none" dirty="0">
                        <a:solidFill>
                          <a:srgbClr val="0284C7"/>
                        </a:solidFill>
                        <a:latin typeface="+mn-ea"/>
                        <a:ea typeface="+mn-ea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" name="Rectangle 15">
            <a:extLst>
              <a:ext uri="{FF2B5EF4-FFF2-40B4-BE49-F238E27FC236}">
                <a16:creationId xmlns:a16="http://schemas.microsoft.com/office/drawing/2014/main" id="{5E51A0CC-DC84-53DA-B3DD-BF017B142CAD}"/>
              </a:ext>
            </a:extLst>
          </p:cNvPr>
          <p:cNvSpPr/>
          <p:nvPr/>
        </p:nvSpPr>
        <p:spPr>
          <a:xfrm>
            <a:off x="4572000" y="8189768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33" name="Rectangle 17">
            <a:extLst>
              <a:ext uri="{FF2B5EF4-FFF2-40B4-BE49-F238E27FC236}">
                <a16:creationId xmlns:a16="http://schemas.microsoft.com/office/drawing/2014/main" id="{98B0E95B-2EA2-5A83-4C52-DA60B031DEC0}"/>
              </a:ext>
            </a:extLst>
          </p:cNvPr>
          <p:cNvSpPr/>
          <p:nvPr/>
        </p:nvSpPr>
        <p:spPr>
          <a:xfrm>
            <a:off x="7316971" y="8194168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34" name="Rectangle 18">
            <a:extLst>
              <a:ext uri="{FF2B5EF4-FFF2-40B4-BE49-F238E27FC236}">
                <a16:creationId xmlns:a16="http://schemas.microsoft.com/office/drawing/2014/main" id="{22AD4A12-7138-F544-464C-EDFA81C65E8A}"/>
              </a:ext>
            </a:extLst>
          </p:cNvPr>
          <p:cNvSpPr/>
          <p:nvPr/>
        </p:nvSpPr>
        <p:spPr>
          <a:xfrm>
            <a:off x="4576762" y="6685226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36" name="Rectangle 20">
            <a:extLst>
              <a:ext uri="{FF2B5EF4-FFF2-40B4-BE49-F238E27FC236}">
                <a16:creationId xmlns:a16="http://schemas.microsoft.com/office/drawing/2014/main" id="{56BDCD0B-0A8A-5848-86CF-70A17634761A}"/>
              </a:ext>
            </a:extLst>
          </p:cNvPr>
          <p:cNvSpPr/>
          <p:nvPr/>
        </p:nvSpPr>
        <p:spPr>
          <a:xfrm>
            <a:off x="7332113" y="6685226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37" name="Rectangle 21">
            <a:extLst>
              <a:ext uri="{FF2B5EF4-FFF2-40B4-BE49-F238E27FC236}">
                <a16:creationId xmlns:a16="http://schemas.microsoft.com/office/drawing/2014/main" id="{FAF4F8A6-B38B-E7F4-490F-3367C658CDA1}"/>
              </a:ext>
            </a:extLst>
          </p:cNvPr>
          <p:cNvSpPr/>
          <p:nvPr/>
        </p:nvSpPr>
        <p:spPr>
          <a:xfrm>
            <a:off x="4576762" y="3691343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39" name="Rectangle 23">
            <a:extLst>
              <a:ext uri="{FF2B5EF4-FFF2-40B4-BE49-F238E27FC236}">
                <a16:creationId xmlns:a16="http://schemas.microsoft.com/office/drawing/2014/main" id="{6F00B193-BB66-17D0-1FB4-33093113ED16}"/>
              </a:ext>
            </a:extLst>
          </p:cNvPr>
          <p:cNvSpPr/>
          <p:nvPr/>
        </p:nvSpPr>
        <p:spPr>
          <a:xfrm>
            <a:off x="7324970" y="3691343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40" name="Rectangle 24">
            <a:extLst>
              <a:ext uri="{FF2B5EF4-FFF2-40B4-BE49-F238E27FC236}">
                <a16:creationId xmlns:a16="http://schemas.microsoft.com/office/drawing/2014/main" id="{FEF03DEA-2833-DF98-B36C-0C7270100281}"/>
              </a:ext>
            </a:extLst>
          </p:cNvPr>
          <p:cNvSpPr/>
          <p:nvPr/>
        </p:nvSpPr>
        <p:spPr>
          <a:xfrm>
            <a:off x="4572000" y="5173433"/>
            <a:ext cx="2755351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sp>
        <p:nvSpPr>
          <p:cNvPr id="42" name="Rectangle 26">
            <a:extLst>
              <a:ext uri="{FF2B5EF4-FFF2-40B4-BE49-F238E27FC236}">
                <a16:creationId xmlns:a16="http://schemas.microsoft.com/office/drawing/2014/main" id="{74A28B55-59CD-70E6-DE41-50A4CFAAABB5}"/>
              </a:ext>
            </a:extLst>
          </p:cNvPr>
          <p:cNvSpPr/>
          <p:nvPr/>
        </p:nvSpPr>
        <p:spPr>
          <a:xfrm>
            <a:off x="7316972" y="5176284"/>
            <a:ext cx="5855249" cy="457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j-ea"/>
              <a:ea typeface="+mj-ea"/>
            </a:endParaRPr>
          </a:p>
        </p:txBody>
      </p:sp>
      <p:pic>
        <p:nvPicPr>
          <p:cNvPr id="44" name="Picture 29" descr="image.png">
            <a:extLst>
              <a:ext uri="{FF2B5EF4-FFF2-40B4-BE49-F238E27FC236}">
                <a16:creationId xmlns:a16="http://schemas.microsoft.com/office/drawing/2014/main" id="{91CB8520-A8EE-153D-261B-9BE658390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1" y="3851735"/>
            <a:ext cx="376238" cy="362799"/>
          </a:xfrm>
          <a:prstGeom prst="rect">
            <a:avLst/>
          </a:prstGeom>
        </p:spPr>
      </p:pic>
      <p:pic>
        <p:nvPicPr>
          <p:cNvPr id="46" name="Picture 31" descr="image.png">
            <a:extLst>
              <a:ext uri="{FF2B5EF4-FFF2-40B4-BE49-F238E27FC236}">
                <a16:creationId xmlns:a16="http://schemas.microsoft.com/office/drawing/2014/main" id="{B1630C56-5CBA-08F0-EC80-F437A724F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161" y="8397302"/>
            <a:ext cx="322489" cy="362799"/>
          </a:xfrm>
          <a:prstGeom prst="rect">
            <a:avLst/>
          </a:prstGeom>
        </p:spPr>
      </p:pic>
      <p:pic>
        <p:nvPicPr>
          <p:cNvPr id="47" name="Picture 32" descr="image.png">
            <a:extLst>
              <a:ext uri="{FF2B5EF4-FFF2-40B4-BE49-F238E27FC236}">
                <a16:creationId xmlns:a16="http://schemas.microsoft.com/office/drawing/2014/main" id="{90E83D83-3F92-5F5F-9405-91FACE6CD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052" y="6802164"/>
            <a:ext cx="456860" cy="362799"/>
          </a:xfrm>
          <a:prstGeom prst="rect">
            <a:avLst/>
          </a:prstGeom>
        </p:spPr>
      </p:pic>
      <p:pic>
        <p:nvPicPr>
          <p:cNvPr id="48" name="Picture 33" descr="image.png">
            <a:extLst>
              <a:ext uri="{FF2B5EF4-FFF2-40B4-BE49-F238E27FC236}">
                <a16:creationId xmlns:a16="http://schemas.microsoft.com/office/drawing/2014/main" id="{3E52B4A4-45A8-06E9-C5C6-478FE8F196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2" y="2364054"/>
            <a:ext cx="376238" cy="362799"/>
          </a:xfrm>
          <a:prstGeom prst="rect">
            <a:avLst/>
          </a:prstGeom>
        </p:spPr>
      </p:pic>
      <p:pic>
        <p:nvPicPr>
          <p:cNvPr id="49" name="Picture 34" descr="image.png">
            <a:extLst>
              <a:ext uri="{FF2B5EF4-FFF2-40B4-BE49-F238E27FC236}">
                <a16:creationId xmlns:a16="http://schemas.microsoft.com/office/drawing/2014/main" id="{ED906590-370B-9A20-9E5D-E2F031A82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9162" y="5331805"/>
            <a:ext cx="376238" cy="362799"/>
          </a:xfrm>
          <a:prstGeom prst="rect">
            <a:avLst/>
          </a:prstGeom>
        </p:spPr>
      </p:pic>
      <p:sp>
        <p:nvSpPr>
          <p:cNvPr id="5" name="object 4">
            <a:extLst>
              <a:ext uri="{FF2B5EF4-FFF2-40B4-BE49-F238E27FC236}">
                <a16:creationId xmlns:a16="http://schemas.microsoft.com/office/drawing/2014/main" id="{EF00E971-3430-2809-E965-57792F17C072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7" name="object 12">
            <a:extLst>
              <a:ext uri="{FF2B5EF4-FFF2-40B4-BE49-F238E27FC236}">
                <a16:creationId xmlns:a16="http://schemas.microsoft.com/office/drawing/2014/main" id="{BDB27267-F3AE-1641-9DBB-F7A784BDA4A8}"/>
              </a:ext>
            </a:extLst>
          </p:cNvPr>
          <p:cNvSpPr txBox="1"/>
          <p:nvPr/>
        </p:nvSpPr>
        <p:spPr>
          <a:xfrm>
            <a:off x="6495051" y="305205"/>
            <a:ext cx="5297805" cy="58092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spcBef>
                <a:spcPts val="110"/>
              </a:spcBef>
            </a:pPr>
            <a:r>
              <a:rPr lang="ko-KR" altLang="en-US" sz="2400" b="1" i="0" u="none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하드웨어 제원 및 유도 충전 메커니</a:t>
            </a: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즘</a:t>
            </a:r>
            <a:endParaRPr lang="en-US" altLang="ko-KR"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</a:endParaRPr>
          </a:p>
          <a:p>
            <a:pPr marL="12700" algn="ctr">
              <a:spcBef>
                <a:spcPts val="110"/>
              </a:spcBef>
            </a:pPr>
            <a:r>
              <a:rPr lang="en-US" altLang="ko-KR" sz="12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AI </a:t>
            </a:r>
            <a:r>
              <a:rPr lang="ko-KR" altLang="en-US" sz="12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</a:rPr>
              <a:t>기술 적용</a:t>
            </a:r>
            <a:endParaRPr lang="en-US" altLang="ko-KR" sz="12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54768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371600" y="1114425"/>
            <a:ext cx="15544800" cy="8753475"/>
          </a:xfrm>
          <a:custGeom>
            <a:avLst/>
            <a:gdLst/>
            <a:ahLst/>
            <a:cxnLst/>
            <a:rect l="l" t="t" r="r" b="b"/>
            <a:pathLst>
              <a:path w="7567295" h="7684770">
                <a:moveTo>
                  <a:pt x="7090662" y="7684453"/>
                </a:moveTo>
                <a:lnTo>
                  <a:pt x="476249" y="7684453"/>
                </a:lnTo>
                <a:lnTo>
                  <a:pt x="427555" y="7681994"/>
                </a:lnTo>
                <a:lnTo>
                  <a:pt x="380268" y="7674777"/>
                </a:lnTo>
                <a:lnTo>
                  <a:pt x="334627" y="7663041"/>
                </a:lnTo>
                <a:lnTo>
                  <a:pt x="290871" y="7647025"/>
                </a:lnTo>
                <a:lnTo>
                  <a:pt x="249240" y="7626970"/>
                </a:lnTo>
                <a:lnTo>
                  <a:pt x="209973" y="7603114"/>
                </a:lnTo>
                <a:lnTo>
                  <a:pt x="173310" y="7575697"/>
                </a:lnTo>
                <a:lnTo>
                  <a:pt x="139490" y="7544958"/>
                </a:lnTo>
                <a:lnTo>
                  <a:pt x="108752" y="7511137"/>
                </a:lnTo>
                <a:lnTo>
                  <a:pt x="81335" y="7474473"/>
                </a:lnTo>
                <a:lnTo>
                  <a:pt x="57480" y="7435206"/>
                </a:lnTo>
                <a:lnTo>
                  <a:pt x="37426" y="7393576"/>
                </a:lnTo>
                <a:lnTo>
                  <a:pt x="21411" y="7349821"/>
                </a:lnTo>
                <a:lnTo>
                  <a:pt x="9675" y="7304180"/>
                </a:lnTo>
                <a:lnTo>
                  <a:pt x="2458" y="7256895"/>
                </a:lnTo>
                <a:lnTo>
                  <a:pt x="0" y="7208203"/>
                </a:lnTo>
                <a:lnTo>
                  <a:pt x="0" y="476251"/>
                </a:lnTo>
                <a:lnTo>
                  <a:pt x="2458" y="427557"/>
                </a:lnTo>
                <a:lnTo>
                  <a:pt x="9675" y="380269"/>
                </a:lnTo>
                <a:lnTo>
                  <a:pt x="21411" y="334628"/>
                </a:lnTo>
                <a:lnTo>
                  <a:pt x="37426" y="290872"/>
                </a:lnTo>
                <a:lnTo>
                  <a:pt x="57480" y="249241"/>
                </a:lnTo>
                <a:lnTo>
                  <a:pt x="81335" y="209974"/>
                </a:lnTo>
                <a:lnTo>
                  <a:pt x="108752" y="173310"/>
                </a:lnTo>
                <a:lnTo>
                  <a:pt x="139490" y="139490"/>
                </a:lnTo>
                <a:lnTo>
                  <a:pt x="173310" y="108752"/>
                </a:lnTo>
                <a:lnTo>
                  <a:pt x="209973" y="81336"/>
                </a:lnTo>
                <a:lnTo>
                  <a:pt x="249240" y="57480"/>
                </a:lnTo>
                <a:lnTo>
                  <a:pt x="290871" y="37426"/>
                </a:lnTo>
                <a:lnTo>
                  <a:pt x="334627" y="21411"/>
                </a:lnTo>
                <a:lnTo>
                  <a:pt x="380268" y="9675"/>
                </a:lnTo>
                <a:lnTo>
                  <a:pt x="427555" y="2458"/>
                </a:lnTo>
                <a:lnTo>
                  <a:pt x="476249" y="0"/>
                </a:lnTo>
                <a:lnTo>
                  <a:pt x="7090662" y="0"/>
                </a:lnTo>
                <a:lnTo>
                  <a:pt x="7139353" y="2458"/>
                </a:lnTo>
                <a:lnTo>
                  <a:pt x="7186639" y="9675"/>
                </a:lnTo>
                <a:lnTo>
                  <a:pt x="7232279" y="21411"/>
                </a:lnTo>
                <a:lnTo>
                  <a:pt x="7276034" y="37426"/>
                </a:lnTo>
                <a:lnTo>
                  <a:pt x="7317664" y="57480"/>
                </a:lnTo>
                <a:lnTo>
                  <a:pt x="7356931" y="81336"/>
                </a:lnTo>
                <a:lnTo>
                  <a:pt x="7393595" y="108752"/>
                </a:lnTo>
                <a:lnTo>
                  <a:pt x="7427416" y="139490"/>
                </a:lnTo>
                <a:lnTo>
                  <a:pt x="7458155" y="173310"/>
                </a:lnTo>
                <a:lnTo>
                  <a:pt x="7485572" y="209974"/>
                </a:lnTo>
                <a:lnTo>
                  <a:pt x="7509428" y="249241"/>
                </a:lnTo>
                <a:lnTo>
                  <a:pt x="7529483" y="290872"/>
                </a:lnTo>
                <a:lnTo>
                  <a:pt x="7545499" y="334628"/>
                </a:lnTo>
                <a:lnTo>
                  <a:pt x="7557235" y="380269"/>
                </a:lnTo>
                <a:lnTo>
                  <a:pt x="7564453" y="427557"/>
                </a:lnTo>
                <a:lnTo>
                  <a:pt x="7566911" y="476251"/>
                </a:lnTo>
                <a:lnTo>
                  <a:pt x="7566911" y="7208203"/>
                </a:lnTo>
                <a:lnTo>
                  <a:pt x="7564453" y="7256895"/>
                </a:lnTo>
                <a:lnTo>
                  <a:pt x="7557235" y="7304180"/>
                </a:lnTo>
                <a:lnTo>
                  <a:pt x="7545499" y="7349821"/>
                </a:lnTo>
                <a:lnTo>
                  <a:pt x="7529483" y="7393576"/>
                </a:lnTo>
                <a:lnTo>
                  <a:pt x="7509428" y="7435206"/>
                </a:lnTo>
                <a:lnTo>
                  <a:pt x="7485572" y="7474473"/>
                </a:lnTo>
                <a:lnTo>
                  <a:pt x="7458155" y="7511137"/>
                </a:lnTo>
                <a:lnTo>
                  <a:pt x="7427416" y="7544958"/>
                </a:lnTo>
                <a:lnTo>
                  <a:pt x="7393595" y="7575697"/>
                </a:lnTo>
                <a:lnTo>
                  <a:pt x="7356931" y="7603114"/>
                </a:lnTo>
                <a:lnTo>
                  <a:pt x="7317664" y="7626970"/>
                </a:lnTo>
                <a:lnTo>
                  <a:pt x="7276034" y="7647025"/>
                </a:lnTo>
                <a:lnTo>
                  <a:pt x="7232279" y="7663041"/>
                </a:lnTo>
                <a:lnTo>
                  <a:pt x="7186639" y="7674777"/>
                </a:lnTo>
                <a:lnTo>
                  <a:pt x="7139353" y="7681994"/>
                </a:lnTo>
                <a:lnTo>
                  <a:pt x="7090662" y="7684453"/>
                </a:lnTo>
                <a:close/>
              </a:path>
            </a:pathLst>
          </a:custGeom>
          <a:solidFill>
            <a:srgbClr val="F1F1F1">
              <a:alpha val="50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3C9F47D-822A-A81E-DFD3-B436312A8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426" y="1333905"/>
            <a:ext cx="13069148" cy="8315679"/>
          </a:xfrm>
          <a:prstGeom prst="rect">
            <a:avLst/>
          </a:prstGeom>
        </p:spPr>
      </p:pic>
      <p:sp>
        <p:nvSpPr>
          <p:cNvPr id="9" name="object 4">
            <a:extLst>
              <a:ext uri="{FF2B5EF4-FFF2-40B4-BE49-F238E27FC236}">
                <a16:creationId xmlns:a16="http://schemas.microsoft.com/office/drawing/2014/main" id="{1651E836-65E5-89D5-B7E5-6E6A9E50357F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EA25900E-C1B2-3B17-DA78-783CC6ACFA04}"/>
              </a:ext>
            </a:extLst>
          </p:cNvPr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시스템 구성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/>
          <p:cNvSpPr/>
          <p:nvPr/>
        </p:nvSpPr>
        <p:spPr>
          <a:xfrm>
            <a:off x="12390120" y="3218688"/>
            <a:ext cx="5029200" cy="1965960"/>
          </a:xfrm>
          <a:prstGeom prst="roundRect">
            <a:avLst/>
          </a:prstGeom>
          <a:solidFill>
            <a:srgbClr val="FFF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331951" y="3483864"/>
            <a:ext cx="3154680" cy="566928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23391" y="3575304"/>
            <a:ext cx="29718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ko-KR" altLang="en-US" sz="2000" b="1" dirty="0">
                <a:solidFill>
                  <a:srgbClr val="4F708B"/>
                </a:solidFill>
                <a:latin typeface="+mj-ea"/>
                <a:ea typeface="+mj-ea"/>
              </a:rPr>
              <a:t>비즈니스 가치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167360" y="4145119"/>
            <a:ext cx="420624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>
                <a:solidFill>
                  <a:srgbClr val="4F708B"/>
                </a:solidFill>
                <a:latin typeface="+mn-ea"/>
              </a:rPr>
              <a:t>기존 전력 인프라 활용 </a:t>
            </a:r>
            <a:r>
              <a:rPr lang="en-US" altLang="ko-KR" sz="1600" b="1" dirty="0">
                <a:solidFill>
                  <a:srgbClr val="4F708B"/>
                </a:solidFill>
                <a:latin typeface="+mn-ea"/>
              </a:rPr>
              <a:t>– </a:t>
            </a:r>
            <a:r>
              <a:rPr lang="ko-KR" altLang="en-US" sz="1600" b="1" dirty="0">
                <a:solidFill>
                  <a:srgbClr val="4F708B"/>
                </a:solidFill>
                <a:latin typeface="+mn-ea"/>
              </a:rPr>
              <a:t>운영비 절감</a:t>
            </a:r>
            <a:endParaRPr lang="en-US" altLang="ko-KR" sz="1600" b="1" dirty="0">
              <a:solidFill>
                <a:srgbClr val="4F708B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>
                <a:solidFill>
                  <a:srgbClr val="4F708B"/>
                </a:solidFill>
                <a:latin typeface="+mn-ea"/>
              </a:rPr>
              <a:t>전문직 일자리 양성</a:t>
            </a:r>
            <a:endParaRPr lang="en-US" altLang="ko-KR" sz="1600" b="1" dirty="0">
              <a:solidFill>
                <a:srgbClr val="4F708B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>
                <a:solidFill>
                  <a:srgbClr val="4F708B"/>
                </a:solidFill>
                <a:latin typeface="+mn-ea"/>
              </a:rPr>
              <a:t>다른 경비 </a:t>
            </a:r>
            <a:r>
              <a:rPr lang="ko-KR" altLang="en-US" sz="1600" b="1" dirty="0" err="1">
                <a:solidFill>
                  <a:srgbClr val="4F708B"/>
                </a:solidFill>
                <a:latin typeface="+mn-ea"/>
              </a:rPr>
              <a:t>드론</a:t>
            </a:r>
            <a:r>
              <a:rPr lang="ko-KR" altLang="en-US" sz="1600" b="1" dirty="0">
                <a:solidFill>
                  <a:srgbClr val="4F708B"/>
                </a:solidFill>
                <a:latin typeface="+mn-ea"/>
              </a:rPr>
              <a:t> 서비스로 확장 가능 </a:t>
            </a:r>
            <a:endParaRPr lang="en-US" altLang="ko-KR" sz="1600" b="1" dirty="0">
              <a:solidFill>
                <a:srgbClr val="4F708B"/>
              </a:solidFill>
              <a:latin typeface="+mn-ea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960120" y="2680335"/>
            <a:ext cx="5074920" cy="1572768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60120" y="2680335"/>
            <a:ext cx="91440" cy="1572768"/>
          </a:xfrm>
          <a:prstGeom prst="rect">
            <a:avLst/>
          </a:prstGeom>
          <a:solidFill>
            <a:srgbClr val="678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34440" y="2908935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78BAA"/>
                </a:solidFill>
                <a:latin typeface="Malgun Gothi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63215"/>
            <a:ext cx="39776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Malgun Gothic"/>
              </a:rPr>
              <a:t>보안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강화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828799" y="3366135"/>
            <a:ext cx="4410075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262626"/>
                </a:solidFill>
                <a:latin typeface="Malgun Gothic"/>
              </a:rPr>
              <a:t>CCTV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사각지대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보완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외곽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취약구역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감시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
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침입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이상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상황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발생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시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신속한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현장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확인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60120" y="4509135"/>
            <a:ext cx="5074920" cy="1572768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60120" y="4509135"/>
            <a:ext cx="91440" cy="1572768"/>
          </a:xfrm>
          <a:prstGeom prst="rect">
            <a:avLst/>
          </a:prstGeom>
          <a:solidFill>
            <a:srgbClr val="649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34440" y="4737735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4977E"/>
                </a:solidFill>
                <a:latin typeface="Malgun Gothi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92015"/>
            <a:ext cx="39776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Malgun Gothic"/>
              </a:rPr>
              <a:t>설비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점검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효율화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28800" y="5183779"/>
            <a:ext cx="39319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접근이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어려운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전력설비를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원격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점검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
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광학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열화상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영상으로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이상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징후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확인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05840" y="6448082"/>
            <a:ext cx="27432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ko-KR" altLang="en-US" sz="2000" b="1" dirty="0">
                <a:solidFill>
                  <a:srgbClr val="4F708B"/>
                </a:solidFill>
                <a:latin typeface="Malgun Gothic"/>
              </a:rPr>
              <a:t>산업 현황 </a:t>
            </a:r>
            <a:r>
              <a:rPr lang="en-US" altLang="ko-KR" sz="2000" b="1" dirty="0">
                <a:solidFill>
                  <a:srgbClr val="4F708B"/>
                </a:solidFill>
                <a:latin typeface="Malgun Gothic"/>
              </a:rPr>
              <a:t>: 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960120" y="6928485"/>
            <a:ext cx="16139159" cy="1298448"/>
          </a:xfrm>
          <a:prstGeom prst="roundRect">
            <a:avLst/>
          </a:prstGeom>
          <a:solidFill>
            <a:srgbClr val="FAFAFA"/>
          </a:solidFill>
          <a:ln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25880" y="7182070"/>
            <a:ext cx="96012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Malgun Gothic"/>
              </a:rPr>
              <a:t>한전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331720" y="7182070"/>
            <a:ext cx="1421892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b="0" dirty="0" err="1">
                <a:solidFill>
                  <a:srgbClr val="262626"/>
                </a:solidFill>
                <a:latin typeface="Malgun Gothic"/>
              </a:rPr>
              <a:t>전력설비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점검에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드론·열화상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장비를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활용하고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있으며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송전선로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자동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감시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드론의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수집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데이터를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AI로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분석한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사례가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b="0" dirty="0" err="1">
                <a:solidFill>
                  <a:srgbClr val="262626"/>
                </a:solidFill>
                <a:latin typeface="Malgun Gothic"/>
              </a:rPr>
              <a:t>있다</a:t>
            </a:r>
            <a:r>
              <a:rPr b="0" dirty="0">
                <a:solidFill>
                  <a:srgbClr val="262626"/>
                </a:solidFill>
                <a:latin typeface="Malgun Gothic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7733156"/>
            <a:ext cx="1421892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ko-KR" altLang="en-US" sz="1000" dirty="0">
                <a:solidFill>
                  <a:srgbClr val="787878"/>
                </a:solidFill>
                <a:latin typeface="Malgun Gothic"/>
              </a:rPr>
              <a:t>출처 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:</a:t>
            </a:r>
            <a:r>
              <a:rPr lang="en-US"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한국전력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「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빛으로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여는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세상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」 ·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한국전력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이동형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영상정보처리기기</a:t>
            </a:r>
            <a:r>
              <a:rPr sz="100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787878"/>
                </a:solidFill>
                <a:latin typeface="Malgun Gothic"/>
              </a:rPr>
              <a:t>운영현황</a:t>
            </a:r>
            <a:endParaRPr sz="1000" b="0" dirty="0">
              <a:solidFill>
                <a:srgbClr val="787878"/>
              </a:solidFill>
              <a:latin typeface="Malgun Gothic"/>
            </a:endParaRPr>
          </a:p>
        </p:txBody>
      </p:sp>
      <p:sp>
        <p:nvSpPr>
          <p:cNvPr id="47" name="Rounded Rectangle 21">
            <a:extLst>
              <a:ext uri="{FF2B5EF4-FFF2-40B4-BE49-F238E27FC236}">
                <a16:creationId xmlns:a16="http://schemas.microsoft.com/office/drawing/2014/main" id="{42D08ED7-56B6-4E70-9096-F5C259A06920}"/>
              </a:ext>
            </a:extLst>
          </p:cNvPr>
          <p:cNvSpPr/>
          <p:nvPr/>
        </p:nvSpPr>
        <p:spPr>
          <a:xfrm>
            <a:off x="6675120" y="2674727"/>
            <a:ext cx="5074920" cy="1572768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22">
            <a:extLst>
              <a:ext uri="{FF2B5EF4-FFF2-40B4-BE49-F238E27FC236}">
                <a16:creationId xmlns:a16="http://schemas.microsoft.com/office/drawing/2014/main" id="{C2E06F00-A45F-D5BC-E4C7-BE8D277317FE}"/>
              </a:ext>
            </a:extLst>
          </p:cNvPr>
          <p:cNvSpPr/>
          <p:nvPr/>
        </p:nvSpPr>
        <p:spPr>
          <a:xfrm>
            <a:off x="6675120" y="2674727"/>
            <a:ext cx="91440" cy="1572768"/>
          </a:xfrm>
          <a:prstGeom prst="rect">
            <a:avLst/>
          </a:prstGeom>
          <a:solidFill>
            <a:srgbClr val="649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0A1494-39E5-61BE-FCCE-3C22B2479DDB}"/>
              </a:ext>
            </a:extLst>
          </p:cNvPr>
          <p:cNvSpPr txBox="1"/>
          <p:nvPr/>
        </p:nvSpPr>
        <p:spPr>
          <a:xfrm>
            <a:off x="6949440" y="2903327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4977E"/>
                </a:solidFill>
                <a:latin typeface="Malgun Gothic"/>
              </a:rPr>
              <a:t>03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EF2713-6534-6623-6451-54BD0D8B43C0}"/>
              </a:ext>
            </a:extLst>
          </p:cNvPr>
          <p:cNvSpPr txBox="1"/>
          <p:nvPr/>
        </p:nvSpPr>
        <p:spPr>
          <a:xfrm>
            <a:off x="7543800" y="2857607"/>
            <a:ext cx="39776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Malgun Gothic"/>
              </a:rPr>
              <a:t>작업자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안전성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향상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074B0D-763F-6D0E-A8CF-509BFF26853D}"/>
              </a:ext>
            </a:extLst>
          </p:cNvPr>
          <p:cNvSpPr txBox="1"/>
          <p:nvPr/>
        </p:nvSpPr>
        <p:spPr>
          <a:xfrm>
            <a:off x="7543800" y="3360527"/>
            <a:ext cx="429768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고압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설비에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대한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직접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접근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최소화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
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위험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지역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사전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점검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lang="ko-KR" altLang="en-US" sz="1600" b="0" dirty="0">
                <a:solidFill>
                  <a:srgbClr val="262626"/>
                </a:solidFill>
                <a:latin typeface="Malgun Gothic"/>
              </a:rPr>
              <a:t>업무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비용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절감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가능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57" name="Rounded Rectangle 26">
            <a:extLst>
              <a:ext uri="{FF2B5EF4-FFF2-40B4-BE49-F238E27FC236}">
                <a16:creationId xmlns:a16="http://schemas.microsoft.com/office/drawing/2014/main" id="{DFB4422A-2868-A3CA-752A-FA9E9659046D}"/>
              </a:ext>
            </a:extLst>
          </p:cNvPr>
          <p:cNvSpPr/>
          <p:nvPr/>
        </p:nvSpPr>
        <p:spPr>
          <a:xfrm>
            <a:off x="6675120" y="4503527"/>
            <a:ext cx="5074920" cy="1572768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27">
            <a:extLst>
              <a:ext uri="{FF2B5EF4-FFF2-40B4-BE49-F238E27FC236}">
                <a16:creationId xmlns:a16="http://schemas.microsoft.com/office/drawing/2014/main" id="{C1512DA5-E5C6-5E97-D076-E2A0FE4BEB75}"/>
              </a:ext>
            </a:extLst>
          </p:cNvPr>
          <p:cNvSpPr/>
          <p:nvPr/>
        </p:nvSpPr>
        <p:spPr>
          <a:xfrm>
            <a:off x="6675120" y="4503527"/>
            <a:ext cx="91440" cy="1572768"/>
          </a:xfrm>
          <a:prstGeom prst="rect">
            <a:avLst/>
          </a:prstGeom>
          <a:solidFill>
            <a:srgbClr val="678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24CA6C2-E06C-4FE2-9950-D11D962AB739}"/>
              </a:ext>
            </a:extLst>
          </p:cNvPr>
          <p:cNvSpPr txBox="1"/>
          <p:nvPr/>
        </p:nvSpPr>
        <p:spPr>
          <a:xfrm>
            <a:off x="6949440" y="4732127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78BAA"/>
                </a:solidFill>
                <a:latin typeface="Malgun Gothic"/>
              </a:rPr>
              <a:t>04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4B0DD6-EB7B-D72F-3ECF-EAF251C42949}"/>
              </a:ext>
            </a:extLst>
          </p:cNvPr>
          <p:cNvSpPr txBox="1"/>
          <p:nvPr/>
        </p:nvSpPr>
        <p:spPr>
          <a:xfrm>
            <a:off x="7543800" y="4686407"/>
            <a:ext cx="39776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Malgun Gothic"/>
              </a:rPr>
              <a:t>전문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드론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운용으로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업무</a:t>
            </a:r>
            <a:r>
              <a:rPr sz="20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Malgun Gothic"/>
              </a:rPr>
              <a:t>고도화</a:t>
            </a:r>
            <a:endParaRPr sz="20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4C2C36D-BAA3-8C85-85FE-5F58A5D0EDB8}"/>
              </a:ext>
            </a:extLst>
          </p:cNvPr>
          <p:cNvSpPr txBox="1"/>
          <p:nvPr/>
        </p:nvSpPr>
        <p:spPr>
          <a:xfrm>
            <a:off x="7543800" y="5189327"/>
            <a:ext cx="425196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262626"/>
                </a:solidFill>
                <a:latin typeface="Malgun Gothic"/>
              </a:rPr>
              <a:t>기존 업무를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드론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순찰</a:t>
            </a:r>
            <a:r>
              <a:rPr lang="en-US" sz="160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관제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업무로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전환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
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인력은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판단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현장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대응에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집중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9376715-C635-3BD3-9B46-0FF9CE7582EC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object 12">
            <a:extLst>
              <a:ext uri="{FF2B5EF4-FFF2-40B4-BE49-F238E27FC236}">
                <a16:creationId xmlns:a16="http://schemas.microsoft.com/office/drawing/2014/main" id="{8577E3F2-4A27-4D62-2DE8-1685A7A3AC23}"/>
              </a:ext>
            </a:extLst>
          </p:cNvPr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기대 효과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/>
          <p:cNvSpPr/>
          <p:nvPr/>
        </p:nvSpPr>
        <p:spPr>
          <a:xfrm>
            <a:off x="960120" y="2367915"/>
            <a:ext cx="3611880" cy="333756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71600" y="2706243"/>
            <a:ext cx="2788920" cy="566928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2797683"/>
            <a:ext cx="26060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01  AI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이상탐지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44168" y="3913804"/>
            <a:ext cx="3227832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드론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영상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수집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>
                <a:solidFill>
                  <a:srgbClr val="262626"/>
                </a:solidFill>
                <a:latin typeface="Malgun Gothic"/>
              </a:rPr>
              <a:t>AI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분석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침입·화재·과열·설비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이상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탐지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45152" y="3712083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4F708B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367915"/>
            <a:ext cx="3611880" cy="333756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623560" y="2706243"/>
            <a:ext cx="2788920" cy="566928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15000" y="2797683"/>
            <a:ext cx="26060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02 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자율</a:t>
            </a:r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순찰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596128" y="3913805"/>
            <a:ext cx="2834640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사전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설정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경로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비행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이상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발생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지역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접근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추가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촬영·확인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897112" y="3712083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4F708B"/>
                </a:solidFill>
                <a:latin typeface="Malgun Gothic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2367915"/>
            <a:ext cx="3611880" cy="333756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875519" y="2706243"/>
            <a:ext cx="2788920" cy="566928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966959" y="2797683"/>
            <a:ext cx="2606039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03 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통합</a:t>
            </a:r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관제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848088" y="4036916"/>
            <a:ext cx="3296412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+mn-ea"/>
              </a:rPr>
              <a:t>드론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+ CCTV +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열화상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+ 센</a:t>
            </a:r>
            <a:r>
              <a:rPr lang="ko-KR" altLang="en-US" sz="1600" dirty="0">
                <a:solidFill>
                  <a:srgbClr val="262626"/>
                </a:solidFill>
                <a:latin typeface="+mn-ea"/>
              </a:rPr>
              <a:t>서</a:t>
            </a:r>
            <a:endParaRPr lang="en-US" altLang="ko-KR" sz="1600" dirty="0">
              <a:solidFill>
                <a:srgbClr val="262626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+mn-ea"/>
              </a:rPr>
              <a:t>실시간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상태·위험정보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통합</a:t>
            </a:r>
            <a:endParaRPr sz="1600" b="0" dirty="0">
              <a:solidFill>
                <a:srgbClr val="262626"/>
              </a:solidFill>
              <a:latin typeface="+mn-ea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149072" y="3712083"/>
            <a:ext cx="502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4F708B"/>
                </a:solidFill>
                <a:latin typeface="Malgun Gothic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0" y="2367915"/>
            <a:ext cx="3611880" cy="3337560"/>
          </a:xfrm>
          <a:prstGeom prst="round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4127479" y="2706243"/>
            <a:ext cx="2971799" cy="566928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067089" y="2797683"/>
            <a:ext cx="3092578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04 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전력·보안시설</a:t>
            </a:r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서비스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4100048" y="3790694"/>
            <a:ext cx="3092578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변전소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발전소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·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송배전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시설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데이터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센터</a:t>
            </a:r>
            <a:endParaRPr lang="en-US" sz="1600" dirty="0">
              <a:solidFill>
                <a:srgbClr val="262626"/>
              </a:solidFill>
              <a:latin typeface="Malgun Gothic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b="0" dirty="0" err="1">
                <a:solidFill>
                  <a:srgbClr val="262626"/>
                </a:solidFill>
                <a:latin typeface="Malgun Gothic"/>
              </a:rPr>
              <a:t>국방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·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국가</a:t>
            </a:r>
            <a:r>
              <a:rPr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중요</a:t>
            </a:r>
            <a:r>
              <a:rPr lang="en-US" sz="1600" b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Malgun Gothic"/>
              </a:rPr>
              <a:t>시설</a:t>
            </a:r>
            <a:endParaRPr sz="1600" b="0" dirty="0">
              <a:solidFill>
                <a:srgbClr val="262626"/>
              </a:solidFill>
              <a:latin typeface="Malgun Gothic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960120" y="6116955"/>
            <a:ext cx="1645920" cy="512064"/>
          </a:xfrm>
          <a:prstGeom prst="round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51560" y="6179820"/>
            <a:ext cx="146304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ko-KR" altLang="en-US" sz="2000" b="1" dirty="0">
                <a:solidFill>
                  <a:srgbClr val="4F708B"/>
                </a:solidFill>
                <a:latin typeface="+mj-ea"/>
                <a:ea typeface="+mj-ea"/>
              </a:rPr>
              <a:t>발전 방향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834640" y="6116955"/>
            <a:ext cx="14264640" cy="512064"/>
          </a:xfrm>
          <a:prstGeom prst="roundRect">
            <a:avLst/>
          </a:prstGeom>
          <a:solidFill>
            <a:srgbClr val="FFF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17520" y="6226683"/>
            <a:ext cx="1389888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b="1" dirty="0" err="1">
                <a:solidFill>
                  <a:srgbClr val="4F708B"/>
                </a:solidFill>
                <a:latin typeface="+mn-ea"/>
              </a:rPr>
              <a:t>기술</a:t>
            </a:r>
            <a:r>
              <a:rPr b="1" dirty="0">
                <a:solidFill>
                  <a:srgbClr val="4F708B"/>
                </a:solidFill>
                <a:latin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검증</a:t>
            </a:r>
            <a:r>
              <a:rPr b="1" dirty="0">
                <a:solidFill>
                  <a:srgbClr val="4F708B"/>
                </a:solidFill>
                <a:latin typeface="+mn-ea"/>
              </a:rPr>
              <a:t>  →  AI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고도화</a:t>
            </a:r>
            <a:r>
              <a:rPr b="1" dirty="0">
                <a:solidFill>
                  <a:srgbClr val="4F708B"/>
                </a:solidFill>
                <a:latin typeface="+mn-ea"/>
              </a:rPr>
              <a:t>  →  </a:t>
            </a:r>
            <a:r>
              <a:rPr lang="ko-KR" altLang="en-US" b="1" dirty="0">
                <a:solidFill>
                  <a:srgbClr val="4F708B"/>
                </a:solidFill>
                <a:latin typeface="+mn-ea"/>
              </a:rPr>
              <a:t>강화된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통합</a:t>
            </a:r>
            <a:r>
              <a:rPr lang="en-US" b="1" dirty="0">
                <a:solidFill>
                  <a:srgbClr val="4F708B"/>
                </a:solidFill>
                <a:latin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관제</a:t>
            </a:r>
            <a:r>
              <a:rPr b="1" dirty="0">
                <a:solidFill>
                  <a:srgbClr val="4F708B"/>
                </a:solidFill>
                <a:latin typeface="+mn-ea"/>
              </a:rPr>
              <a:t>  → 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데이터</a:t>
            </a:r>
            <a:r>
              <a:rPr lang="en-US" b="1" dirty="0">
                <a:solidFill>
                  <a:srgbClr val="4F708B"/>
                </a:solidFill>
                <a:latin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센터</a:t>
            </a:r>
            <a:r>
              <a:rPr lang="en-US" b="1" dirty="0">
                <a:solidFill>
                  <a:srgbClr val="4F708B"/>
                </a:solidFill>
                <a:latin typeface="+mn-ea"/>
              </a:rPr>
              <a:t> </a:t>
            </a:r>
            <a:r>
              <a:rPr b="1" dirty="0">
                <a:solidFill>
                  <a:srgbClr val="4F708B"/>
                </a:solidFill>
                <a:latin typeface="+mn-ea"/>
              </a:rPr>
              <a:t>·</a:t>
            </a:r>
            <a:r>
              <a:rPr lang="en-US" b="1" dirty="0">
                <a:solidFill>
                  <a:srgbClr val="4F708B"/>
                </a:solidFill>
                <a:latin typeface="+mn-ea"/>
              </a:rPr>
              <a:t>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국방</a:t>
            </a:r>
            <a:r>
              <a:rPr b="1" dirty="0">
                <a:solidFill>
                  <a:srgbClr val="4F708B"/>
                </a:solidFill>
                <a:latin typeface="+mn-ea"/>
              </a:rPr>
              <a:t> 등</a:t>
            </a:r>
            <a:r>
              <a:rPr lang="en-US" b="1" dirty="0">
                <a:solidFill>
                  <a:srgbClr val="4F708B"/>
                </a:solidFill>
                <a:latin typeface="+mn-ea"/>
              </a:rPr>
              <a:t> </a:t>
            </a:r>
            <a:r>
              <a:rPr lang="ko-KR" altLang="en-US" b="1" dirty="0">
                <a:solidFill>
                  <a:srgbClr val="4F708B"/>
                </a:solidFill>
                <a:latin typeface="+mn-ea"/>
              </a:rPr>
              <a:t>중요 보안 </a:t>
            </a:r>
            <a:r>
              <a:rPr b="1" dirty="0" err="1">
                <a:solidFill>
                  <a:srgbClr val="4F708B"/>
                </a:solidFill>
                <a:latin typeface="+mn-ea"/>
              </a:rPr>
              <a:t>분야</a:t>
            </a:r>
            <a:r>
              <a:rPr lang="ko-KR" altLang="en-US" b="1" dirty="0">
                <a:solidFill>
                  <a:srgbClr val="4F708B"/>
                </a:solidFill>
                <a:latin typeface="+mn-ea"/>
              </a:rPr>
              <a:t>로</a:t>
            </a:r>
            <a:r>
              <a:rPr b="1" dirty="0">
                <a:solidFill>
                  <a:srgbClr val="4F708B"/>
                </a:solidFill>
                <a:latin typeface="+mn-ea"/>
              </a:rPr>
              <a:t> </a:t>
            </a:r>
            <a:r>
              <a:rPr lang="ko-KR" altLang="en-US" b="1" dirty="0">
                <a:solidFill>
                  <a:srgbClr val="4F708B"/>
                </a:solidFill>
                <a:latin typeface="+mn-ea"/>
              </a:rPr>
              <a:t>확장 가능</a:t>
            </a:r>
            <a:endParaRPr b="1" dirty="0">
              <a:solidFill>
                <a:srgbClr val="4F708B"/>
              </a:solidFill>
              <a:latin typeface="+mn-ea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960120" y="6939915"/>
            <a:ext cx="7452360" cy="1188720"/>
          </a:xfrm>
          <a:prstGeom prst="roundRect">
            <a:avLst/>
          </a:prstGeom>
          <a:solidFill>
            <a:srgbClr val="FAFAFA"/>
          </a:solidFill>
          <a:ln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51560" y="7024437"/>
            <a:ext cx="146304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실제</a:t>
            </a:r>
            <a:r>
              <a:rPr sz="2000" b="1" dirty="0">
                <a:solidFill>
                  <a:srgbClr val="4F708B"/>
                </a:solidFill>
                <a:latin typeface="+mj-ea"/>
                <a:ea typeface="+mj-ea"/>
              </a:rPr>
              <a:t> </a:t>
            </a:r>
            <a:r>
              <a:rPr sz="2000" b="1" dirty="0" err="1">
                <a:solidFill>
                  <a:srgbClr val="4F708B"/>
                </a:solidFill>
                <a:latin typeface="+mj-ea"/>
                <a:ea typeface="+mj-ea"/>
              </a:rPr>
              <a:t>적용</a:t>
            </a:r>
            <a:r>
              <a:rPr lang="en-US" sz="2000" b="1" dirty="0">
                <a:solidFill>
                  <a:srgbClr val="4F708B"/>
                </a:solidFill>
                <a:latin typeface="+mj-ea"/>
                <a:ea typeface="+mj-ea"/>
              </a:rPr>
              <a:t> :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423160" y="7049643"/>
            <a:ext cx="566928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262626"/>
                </a:solidFill>
                <a:latin typeface="+mn-ea"/>
              </a:rPr>
              <a:t>한전은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자율</a:t>
            </a:r>
            <a:r>
              <a:rPr lang="en-US"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비행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드론으로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전력</a:t>
            </a:r>
            <a:r>
              <a:rPr lang="en-US"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기자재를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촬영·전송해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불량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여부를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파악하는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현장</a:t>
            </a:r>
            <a:r>
              <a:rPr lang="en-US"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실증을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추진한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사례가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있음</a:t>
            </a:r>
            <a:endParaRPr sz="1600" b="0" dirty="0">
              <a:solidFill>
                <a:srgbClr val="262626"/>
              </a:solidFill>
              <a:latin typeface="+mn-ea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23160" y="7659624"/>
            <a:ext cx="5669280" cy="2277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ko-KR" altLang="en-US" sz="880" dirty="0">
                <a:solidFill>
                  <a:srgbClr val="787878"/>
                </a:solidFill>
                <a:latin typeface="Malgun Gothic"/>
              </a:rPr>
              <a:t>출처 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: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한국전력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공개자료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(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자율비행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드론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전력설비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진단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6939915"/>
            <a:ext cx="7955279" cy="1188720"/>
          </a:xfrm>
          <a:prstGeom prst="roundRect">
            <a:avLst/>
          </a:prstGeom>
          <a:solidFill>
            <a:srgbClr val="FAFAFA"/>
          </a:solidFill>
          <a:ln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98480" y="7049643"/>
            <a:ext cx="598932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262626"/>
                </a:solidFill>
                <a:latin typeface="+mn-ea"/>
              </a:rPr>
              <a:t>다수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드론의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전력</a:t>
            </a:r>
            <a:r>
              <a:rPr lang="en-US"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설비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협업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점검과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열화상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기반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불량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애자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탐지·위치</a:t>
            </a:r>
            <a:r>
              <a:rPr lang="en-US"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추정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연구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사례가</a:t>
            </a:r>
            <a:r>
              <a:rPr sz="1600" b="0" dirty="0">
                <a:solidFill>
                  <a:srgbClr val="262626"/>
                </a:solidFill>
                <a:latin typeface="+mn-ea"/>
              </a:rPr>
              <a:t> </a:t>
            </a:r>
            <a:r>
              <a:rPr sz="1600" b="0" dirty="0" err="1">
                <a:solidFill>
                  <a:srgbClr val="262626"/>
                </a:solidFill>
                <a:latin typeface="+mn-ea"/>
              </a:rPr>
              <a:t>존재</a:t>
            </a:r>
            <a:endParaRPr sz="1600" b="0" dirty="0">
              <a:solidFill>
                <a:srgbClr val="262626"/>
              </a:solidFill>
              <a:latin typeface="+mn-ea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98480" y="7659088"/>
            <a:ext cx="5989320" cy="2277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ko-KR" altLang="en-US" sz="880" b="0" dirty="0">
                <a:solidFill>
                  <a:srgbClr val="787878"/>
                </a:solidFill>
                <a:latin typeface="Malgun Gothic"/>
              </a:rPr>
              <a:t>출처 </a:t>
            </a:r>
            <a:r>
              <a:rPr lang="en-US" altLang="ko-KR" sz="880" b="0" dirty="0">
                <a:solidFill>
                  <a:srgbClr val="787878"/>
                </a:solidFill>
                <a:latin typeface="Malgun Gothic"/>
              </a:rPr>
              <a:t>: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대한전기학회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2022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학술대회</a:t>
            </a:r>
            <a:r>
              <a:rPr sz="880" b="0" dirty="0">
                <a:solidFill>
                  <a:srgbClr val="787878"/>
                </a:solidFill>
                <a:latin typeface="Malgun Gothic"/>
              </a:rPr>
              <a:t> </a:t>
            </a:r>
            <a:r>
              <a:rPr sz="880" b="0" dirty="0" err="1">
                <a:solidFill>
                  <a:srgbClr val="787878"/>
                </a:solidFill>
                <a:latin typeface="Malgun Gothic"/>
              </a:rPr>
              <a:t>프로그램</a:t>
            </a:r>
            <a:endParaRPr sz="880" b="0" dirty="0">
              <a:solidFill>
                <a:srgbClr val="787878"/>
              </a:solidFill>
              <a:latin typeface="Malgun Gothic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960120" y="7918323"/>
            <a:ext cx="16139159" cy="384048"/>
          </a:xfrm>
          <a:prstGeom prst="roundRect">
            <a:avLst/>
          </a:prstGeom>
          <a:solidFill>
            <a:srgbClr val="FFF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88720" y="7936499"/>
            <a:ext cx="1568195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dirty="0" err="1">
                <a:solidFill>
                  <a:srgbClr val="4F708B"/>
                </a:solidFill>
                <a:latin typeface="Malgun Gothic"/>
              </a:rPr>
              <a:t>사업화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방향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 | 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초기</a:t>
            </a:r>
            <a:r>
              <a:rPr lang="en-US"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: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변전소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점검·순찰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→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고도화</a:t>
            </a:r>
            <a:r>
              <a:rPr lang="en-US"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: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AI·통합관제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→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확장</a:t>
            </a:r>
            <a:r>
              <a:rPr lang="en-US"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: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데이터</a:t>
            </a:r>
            <a:r>
              <a:rPr lang="en-US"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센터·국방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등 </a:t>
            </a:r>
            <a:r>
              <a:rPr lang="ko-KR" altLang="en-US" sz="1600" b="1" dirty="0">
                <a:solidFill>
                  <a:srgbClr val="4F708B"/>
                </a:solidFill>
                <a:latin typeface="Malgun Gothic"/>
              </a:rPr>
              <a:t>중요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보안</a:t>
            </a:r>
            <a:r>
              <a:rPr sz="1600" b="1" dirty="0">
                <a:solidFill>
                  <a:srgbClr val="4F708B"/>
                </a:solidFill>
                <a:latin typeface="Malgun Gothic"/>
              </a:rPr>
              <a:t> </a:t>
            </a:r>
            <a:r>
              <a:rPr sz="1600" b="1" dirty="0" err="1">
                <a:solidFill>
                  <a:srgbClr val="4F708B"/>
                </a:solidFill>
                <a:latin typeface="Malgun Gothic"/>
              </a:rPr>
              <a:t>시설</a:t>
            </a:r>
            <a:endParaRPr sz="1600" b="1" dirty="0">
              <a:solidFill>
                <a:srgbClr val="4F708B"/>
              </a:solidFill>
              <a:latin typeface="Malgun Gothic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979A84-14B1-5597-1CF5-C302F2EDFC2D}"/>
              </a:ext>
            </a:extLst>
          </p:cNvPr>
          <p:cNvSpPr txBox="1"/>
          <p:nvPr/>
        </p:nvSpPr>
        <p:spPr>
          <a:xfrm>
            <a:off x="9235440" y="7024437"/>
            <a:ext cx="146304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ko-KR" altLang="en-US" sz="2000" b="1" dirty="0">
                <a:solidFill>
                  <a:srgbClr val="4F708B"/>
                </a:solidFill>
                <a:latin typeface="+mj-ea"/>
                <a:ea typeface="+mj-ea"/>
              </a:rPr>
              <a:t>연구 사례</a:t>
            </a:r>
            <a:r>
              <a:rPr lang="en-US" sz="2000" b="1" dirty="0">
                <a:solidFill>
                  <a:srgbClr val="4F708B"/>
                </a:solidFill>
                <a:latin typeface="+mj-ea"/>
                <a:ea typeface="+mj-ea"/>
              </a:rPr>
              <a:t> :</a:t>
            </a:r>
            <a:endParaRPr sz="2000" b="1" dirty="0">
              <a:solidFill>
                <a:srgbClr val="4F708B"/>
              </a:solidFill>
              <a:latin typeface="+mj-ea"/>
              <a:ea typeface="+mj-ea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B60692C6-28EF-C530-B0FB-79E046F9049E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7" name="object 12">
            <a:extLst>
              <a:ext uri="{FF2B5EF4-FFF2-40B4-BE49-F238E27FC236}">
                <a16:creationId xmlns:a16="http://schemas.microsoft.com/office/drawing/2014/main" id="{55247B4D-94A6-7E19-86FD-25D46DC7207C}"/>
              </a:ext>
            </a:extLst>
          </p:cNvPr>
          <p:cNvSpPr txBox="1"/>
          <p:nvPr/>
        </p:nvSpPr>
        <p:spPr>
          <a:xfrm>
            <a:off x="6495051" y="305205"/>
            <a:ext cx="5297805" cy="38343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+mj-ea"/>
                <a:ea typeface="+mj-ea"/>
                <a:cs typeface="Verdana"/>
              </a:rPr>
              <a:t>향후 발전 방향</a:t>
            </a:r>
            <a:endParaRPr sz="2400" b="1" dirty="0">
              <a:solidFill>
                <a:schemeClr val="tx2">
                  <a:lumMod val="90000"/>
                  <a:lumOff val="10000"/>
                </a:schemeClr>
              </a:solidFill>
              <a:latin typeface="+mj-ea"/>
              <a:ea typeface="+mj-e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노랑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</TotalTime>
  <Words>1390</Words>
  <Application>Microsoft Office PowerPoint</Application>
  <PresentationFormat>사용자 지정</PresentationFormat>
  <Paragraphs>192</Paragraphs>
  <Slides>10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8" baseType="lpstr">
      <vt:lpstr>Pretendard</vt:lpstr>
      <vt:lpstr>맑은 고딕</vt:lpstr>
      <vt:lpstr>맑은 고딕</vt:lpstr>
      <vt:lpstr>Aptos</vt:lpstr>
      <vt:lpstr>Arial</vt:lpstr>
      <vt:lpstr>Calibri</vt:lpstr>
      <vt:lpstr>Verdana</vt:lpstr>
      <vt:lpstr>Office Theme</vt:lpstr>
      <vt:lpstr>객체 인식과 추론을 활용한 자율 충전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개요 및 핵심 내용</dc:title>
  <dc:creator>inyang</dc:creator>
  <cp:keywords>DAHG5GM7H0E,BAG9r41BJc4</cp:keywords>
  <cp:lastModifiedBy>상화 나</cp:lastModifiedBy>
  <cp:revision>40</cp:revision>
  <dcterms:created xsi:type="dcterms:W3CDTF">2026-08-15T19:09:32Z</dcterms:created>
  <dcterms:modified xsi:type="dcterms:W3CDTF">2026-08-19T14:05:19Z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2026-08-11T00:00:00Z</vt:filetime>
  </property>
  <property fmtid="{D5CDD505-2E9C-101B-9397-08002B2CF9AE}" pid="4" name="Creator">
    <vt:lpwstr>Canva</vt:lpwstr>
  </property>
  <property fmtid="{D5CDD505-2E9C-101B-9397-08002B2CF9AE}" pid="5" name="LastSaved">
    <vt:filetime>2026-08-15T00:00:00Z</vt:filetime>
  </property>
  <property fmtid="{D5CDD505-2E9C-101B-9397-08002B2CF9AE}" pid="6" name="Producer">
    <vt:lpwstr>3-Heights(TM) PDF Security Shell 4.8.25.2 (http://www.pdf-tools.com)</vt:lpwstr>
  </property>
  <property fmtid="{D5CDD505-2E9C-101B-9397-08002B2CF9AE}" pid="7" name="containsAiGeneratedContent">
    <vt:lpwstr>Yes</vt:lpwstr>
  </property>
</Properties>
</file>